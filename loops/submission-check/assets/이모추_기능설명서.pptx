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9" r:id="rId2"/>
    <p:sldId id="258" r:id="rId3"/>
    <p:sldId id="267" r:id="rId4"/>
    <p:sldId id="268" r:id="rId5"/>
    <p:sldId id="260" r:id="rId7"/>
    <p:sldId id="272" r:id="rId19"/>
    <p:sldId id="271" r:id="rId18"/>
    <p:sldId id="270" r:id="rId17"/>
    <p:sldId id="269" r:id="rId16"/>
    <p:sldId id="264" r:id="rId8"/>
    <p:sldId id="265" r:id="rId9"/>
    <p:sldId id="266" r:id="rId1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6F00"/>
    <a:srgbClr val="FFA401"/>
    <a:srgbClr val="FFFDE7"/>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100" d="100"/>
          <a:sy n="100" d="100"/>
        </p:scale>
        <p:origin x="936" y="3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10.xml"/><Relationship Id="rId9" Type="http://schemas.openxmlformats.org/officeDocument/2006/relationships/slide" Target="slides/slide11.xml"/><Relationship Id="rId10" Type="http://schemas.openxmlformats.org/officeDocument/2006/relationships/slide" Target="slides/slide12.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9.xml"/><Relationship Id="rId17" Type="http://schemas.openxmlformats.org/officeDocument/2006/relationships/slide" Target="slides/slide8.xml"/><Relationship Id="rId18" Type="http://schemas.openxmlformats.org/officeDocument/2006/relationships/slide" Target="slides/slide7.xml"/><Relationship Id="rId19"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3549DB-4EF3-40B0-A785-8572249070D6}" type="datetimeFigureOut">
              <a:rPr lang="ko-KR" altLang="en-US" smtClean="0"/>
              <a:t>2026-07-29</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4097B3-0D7D-4E86-933F-EBF9BA5F97E0}" type="slidenum">
              <a:rPr lang="ko-KR" altLang="en-US" smtClean="0"/>
              <a:t>‹#›</a:t>
            </a:fld>
            <a:endParaRPr lang="ko-KR" altLang="en-US"/>
          </a:p>
        </p:txBody>
      </p:sp>
    </p:spTree>
    <p:extLst>
      <p:ext uri="{BB962C8B-B14F-4D97-AF65-F5344CB8AC3E}">
        <p14:creationId xmlns:p14="http://schemas.microsoft.com/office/powerpoint/2010/main" val="19321721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표지">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65710554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서비스 소개">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353622321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지역 특화 서비스 구현 세부내용">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0" y="0"/>
            <a:ext cx="12192000" cy="6840835"/>
          </a:xfrm>
          <a:prstGeom prst="rect">
            <a:avLst/>
          </a:prstGeom>
        </p:spPr>
      </p:pic>
    </p:spTree>
    <p:extLst>
      <p:ext uri="{BB962C8B-B14F-4D97-AF65-F5344CB8AC3E}">
        <p14:creationId xmlns:p14="http://schemas.microsoft.com/office/powerpoint/2010/main" val="367999864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서비스 핵심 기능별 흐름도">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13438" y="18574"/>
            <a:ext cx="12165123" cy="6839426"/>
          </a:xfrm>
          <a:prstGeom prst="rect">
            <a:avLst/>
          </a:prstGeom>
        </p:spPr>
      </p:pic>
    </p:spTree>
    <p:extLst>
      <p:ext uri="{BB962C8B-B14F-4D97-AF65-F5344CB8AC3E}">
        <p14:creationId xmlns:p14="http://schemas.microsoft.com/office/powerpoint/2010/main" val="143966490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데이터 활용(한국관광공사 OpenAPI)">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3912" y="13811"/>
            <a:ext cx="12184175" cy="6830378"/>
          </a:xfrm>
          <a:prstGeom prst="rect">
            <a:avLst/>
          </a:prstGeom>
        </p:spPr>
      </p:pic>
    </p:spTree>
    <p:extLst>
      <p:ext uri="{BB962C8B-B14F-4D97-AF65-F5344CB8AC3E}">
        <p14:creationId xmlns:p14="http://schemas.microsoft.com/office/powerpoint/2010/main" val="256122898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데이터 활용(기타)">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8675" y="9047"/>
            <a:ext cx="12174649" cy="6839905"/>
          </a:xfrm>
          <a:prstGeom prst="rect">
            <a:avLst/>
          </a:prstGeom>
        </p:spPr>
      </p:pic>
    </p:spTree>
    <p:extLst>
      <p:ext uri="{BB962C8B-B14F-4D97-AF65-F5344CB8AC3E}">
        <p14:creationId xmlns:p14="http://schemas.microsoft.com/office/powerpoint/2010/main" val="350983382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서비스 차별성&amp;발전계획">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stretch>
            <a:fillRect/>
          </a:stretch>
        </p:blipFill>
        <p:spPr>
          <a:xfrm>
            <a:off x="3912" y="4284"/>
            <a:ext cx="12184175" cy="6849431"/>
          </a:xfrm>
          <a:prstGeom prst="rect">
            <a:avLst/>
          </a:prstGeom>
        </p:spPr>
      </p:pic>
    </p:spTree>
    <p:extLst>
      <p:ext uri="{BB962C8B-B14F-4D97-AF65-F5344CB8AC3E}">
        <p14:creationId xmlns:p14="http://schemas.microsoft.com/office/powerpoint/2010/main" val="145924939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4A38FB6A-844E-4645-B6B8-D2945F9927BB}" type="datetimeFigureOut">
              <a:rPr lang="ko-KR" altLang="en-US" smtClean="0"/>
              <a:t>2026-07-29</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38832701-68F9-4777-ABB9-C14E97591467}" type="slidenum">
              <a:rPr lang="ko-KR" altLang="en-US" smtClean="0"/>
              <a:t>‹#›</a:t>
            </a:fld>
            <a:endParaRPr lang="ko-KR" altLang="en-US"/>
          </a:p>
        </p:txBody>
      </p:sp>
      <p:grpSp>
        <p:nvGrpSpPr>
          <p:cNvPr id="14" name="그룹 13"/>
          <p:cNvGrpSpPr/>
          <p:nvPr userDrawn="1"/>
        </p:nvGrpSpPr>
        <p:grpSpPr>
          <a:xfrm>
            <a:off x="189807" y="256797"/>
            <a:ext cx="11812386" cy="580915"/>
            <a:chOff x="189807" y="256797"/>
            <a:chExt cx="11812386" cy="580915"/>
          </a:xfrm>
        </p:grpSpPr>
        <p:grpSp>
          <p:nvGrpSpPr>
            <p:cNvPr id="10" name="그룹 9"/>
            <p:cNvGrpSpPr/>
            <p:nvPr/>
          </p:nvGrpSpPr>
          <p:grpSpPr>
            <a:xfrm>
              <a:off x="8161715" y="256797"/>
              <a:ext cx="3840478" cy="340519"/>
              <a:chOff x="6733312" y="182882"/>
              <a:chExt cx="3840478" cy="340519"/>
            </a:xfrm>
          </p:grpSpPr>
          <p:sp>
            <p:nvSpPr>
              <p:cNvPr id="12" name="TextBox 11"/>
              <p:cNvSpPr txBox="1"/>
              <p:nvPr/>
            </p:nvSpPr>
            <p:spPr>
              <a:xfrm>
                <a:off x="6733312" y="182882"/>
                <a:ext cx="2419001" cy="340519"/>
              </a:xfrm>
              <a:prstGeom prst="roundRect">
                <a:avLst/>
              </a:prstGeom>
              <a:solidFill>
                <a:srgbClr val="FF6F00"/>
              </a:solidFill>
            </p:spPr>
            <p:txBody>
              <a:bodyPr wrap="square" rtlCol="0">
                <a:spAutoFit/>
              </a:bodyPr>
              <a:lstStyle/>
              <a:p>
                <a:pPr algn="ctr"/>
                <a:r>
                  <a:rPr lang="en-US" altLang="ko-KR" sz="1400" dirty="0" smtClean="0">
                    <a:solidFill>
                      <a:schemeClr val="bg1"/>
                    </a:solidFill>
                    <a:latin typeface="Noto Sans KR Medium" panose="020B0600000000000000" pitchFamily="34" charset="-127"/>
                    <a:ea typeface="Noto Sans KR Medium" panose="020B0600000000000000" pitchFamily="34" charset="-127"/>
                  </a:rPr>
                  <a:t>2026 </a:t>
                </a:r>
                <a:r>
                  <a:rPr lang="ko-KR" altLang="en-US" sz="1400" dirty="0" smtClean="0">
                    <a:solidFill>
                      <a:schemeClr val="bg1"/>
                    </a:solidFill>
                    <a:latin typeface="Noto Sans KR Medium" panose="020B0600000000000000" pitchFamily="34" charset="-127"/>
                    <a:ea typeface="Noto Sans KR Medium" panose="020B0600000000000000" pitchFamily="34" charset="-127"/>
                  </a:rPr>
                  <a:t>관광데이터 활용 공모전</a:t>
                </a:r>
                <a:endParaRPr lang="ko-KR" altLang="en-US" sz="1400" dirty="0">
                  <a:solidFill>
                    <a:schemeClr val="bg1"/>
                  </a:solidFill>
                  <a:latin typeface="Noto Sans KR Medium" panose="020B0600000000000000" pitchFamily="34" charset="-127"/>
                  <a:ea typeface="Noto Sans KR Medium" panose="020B0600000000000000" pitchFamily="34" charset="-127"/>
                </a:endParaRPr>
              </a:p>
            </p:txBody>
          </p:sp>
          <p:sp>
            <p:nvSpPr>
              <p:cNvPr id="13" name="TextBox 12"/>
              <p:cNvSpPr txBox="1"/>
              <p:nvPr/>
            </p:nvSpPr>
            <p:spPr>
              <a:xfrm>
                <a:off x="9246526" y="182882"/>
                <a:ext cx="1327264" cy="340519"/>
              </a:xfrm>
              <a:prstGeom prst="roundRect">
                <a:avLst/>
              </a:prstGeom>
              <a:solidFill>
                <a:srgbClr val="FFFDE7"/>
              </a:solidFill>
            </p:spPr>
            <p:txBody>
              <a:bodyPr wrap="square" rtlCol="0">
                <a:spAutoFit/>
              </a:bodyPr>
              <a:lstStyle/>
              <a:p>
                <a:pPr algn="ctr"/>
                <a:r>
                  <a:rPr lang="ko-KR" altLang="en-US" sz="1400" dirty="0" smtClean="0">
                    <a:latin typeface="Noto Sans KR Medium" panose="020B0600000000000000" pitchFamily="34" charset="-127"/>
                    <a:ea typeface="Noto Sans KR Medium" panose="020B0600000000000000" pitchFamily="34" charset="-127"/>
                  </a:rPr>
                  <a:t>웹〮앱 개발 부문</a:t>
                </a:r>
                <a:endParaRPr lang="ko-KR" altLang="en-US" sz="1400" dirty="0">
                  <a:latin typeface="Noto Sans KR Medium" panose="020B0600000000000000" pitchFamily="34" charset="-127"/>
                  <a:ea typeface="Noto Sans KR Medium" panose="020B0600000000000000" pitchFamily="34" charset="-127"/>
                </a:endParaRPr>
              </a:p>
            </p:txBody>
          </p:sp>
        </p:grpSp>
        <p:sp>
          <p:nvSpPr>
            <p:cNvPr id="11" name="직사각형 10"/>
            <p:cNvSpPr/>
            <p:nvPr/>
          </p:nvSpPr>
          <p:spPr>
            <a:xfrm>
              <a:off x="189807" y="791993"/>
              <a:ext cx="11812386" cy="45719"/>
            </a:xfrm>
            <a:prstGeom prst="rect">
              <a:avLst/>
            </a:prstGeom>
            <a:solidFill>
              <a:srgbClr val="FF6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39394489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38FB6A-844E-4645-B6B8-D2945F9927BB}" type="datetimeFigureOut">
              <a:rPr lang="ko-KR" altLang="en-US" smtClean="0"/>
              <a:t>2026-07-29</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832701-68F9-4777-ABB9-C14E97591467}" type="slidenum">
              <a:rPr lang="ko-KR" altLang="en-US" smtClean="0"/>
              <a:t>‹#›</a:t>
            </a:fld>
            <a:endParaRPr lang="ko-KR" altLang="en-US"/>
          </a:p>
        </p:txBody>
      </p:sp>
    </p:spTree>
    <p:extLst>
      <p:ext uri="{BB962C8B-B14F-4D97-AF65-F5344CB8AC3E}">
        <p14:creationId xmlns:p14="http://schemas.microsoft.com/office/powerpoint/2010/main" val="2217332544"/>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60" r:id="rId3"/>
    <p:sldLayoutId id="2147483661" r:id="rId4"/>
    <p:sldLayoutId id="2147483662" r:id="rId5"/>
    <p:sldLayoutId id="2147483663" r:id="rId6"/>
    <p:sldLayoutId id="2147483664" r:id="rId7"/>
    <p:sldLayoutId id="2147483665" r:id="rId8"/>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2.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 Id="rId3" Type="http://schemas.openxmlformats.org/officeDocument/2006/relationships/image" Target="../media/image11.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표 5"/>
          <p:cNvGraphicFramePr>
            <a:graphicFrameLocks noGrp="1"/>
          </p:cNvGraphicFramePr>
          <p:nvPr>
            <p:extLst>
              <p:ext uri="{D42A27DB-BD31-4B8C-83A1-F6EECF244321}">
                <p14:modId xmlns:p14="http://schemas.microsoft.com/office/powerpoint/2010/main" val="84002065"/>
              </p:ext>
            </p:extLst>
          </p:nvPr>
        </p:nvGraphicFramePr>
        <p:xfrm>
          <a:off x="527397" y="4563687"/>
          <a:ext cx="6712988" cy="1112210"/>
        </p:xfrm>
        <a:graphic>
          <a:graphicData uri="http://schemas.openxmlformats.org/drawingml/2006/table">
            <a:tbl>
              <a:tblPr firstRow="1" bandRow="1">
                <a:tableStyleId>{5C22544A-7EE6-4342-B048-85BDC9FD1C3A}</a:tableStyleId>
              </a:tblPr>
              <a:tblGrid>
                <a:gridCol w="1891569">
                  <a:extLst>
                    <a:ext uri="{9D8B030D-6E8A-4147-A177-3AD203B41FA5}">
                      <a16:colId xmlns:a16="http://schemas.microsoft.com/office/drawing/2014/main" val="2581860913"/>
                    </a:ext>
                  </a:extLst>
                </a:gridCol>
                <a:gridCol w="4821419">
                  <a:extLst>
                    <a:ext uri="{9D8B030D-6E8A-4147-A177-3AD203B41FA5}">
                      <a16:colId xmlns:a16="http://schemas.microsoft.com/office/drawing/2014/main" val="1059508984"/>
                    </a:ext>
                  </a:extLst>
                </a:gridCol>
              </a:tblGrid>
              <a:tr h="547792">
                <a:tc>
                  <a:txBody>
                    <a:bodyPr/>
                    <a:lstStyle/>
                    <a:p>
                      <a:pPr algn="ctr" latinLnBrk="1"/>
                      <a:r>
                        <a:rPr lang="ko-KR" altLang="en-US" sz="2400" b="1" dirty="0" smtClean="0">
                          <a:solidFill>
                            <a:schemeClr val="bg1"/>
                          </a:solidFill>
                        </a:rPr>
                        <a:t>팀 명</a:t>
                      </a:r>
                      <a:endParaRPr lang="ko-KR" altLang="en-US" sz="2400" b="1" dirty="0">
                        <a:solidFill>
                          <a:schemeClr val="bg1"/>
                        </a:solidFill>
                      </a:endParaRPr>
                    </a:p>
                  </a:txBody>
                  <a:tcPr anchor="ct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solidFill>
                      <a:srgbClr val="FFA401"/>
                    </a:solidFill>
                  </a:tcPr>
                </a:tc>
                <a:tc>
                  <a:txBody>
                    <a:bodyPr wrap="square"/>
                    <a:lstStyle/>
                    <a:p>
                      <a:pPr latinLnBrk="1" algn="ctr">
                        <a:spcAft>
                          <a:spcPts val="400"/>
                        </a:spcAft>
                      </a:pPr>
                      <a:r>
                        <a:rPr sz="1600" b="0">
                          <a:solidFill>
                            <a:srgbClr val="1A1A1A"/>
                          </a:solidFill>
                          <a:latin typeface="맑은 고딕"/>
                        </a:rPr>
                        <a:t>박재오</a:t>
                      </a:r>
                      <a:endParaRPr lang="ko-KR" altLang="en-US" sz="2400"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solidFill>
                      <a:srgbClr val="FFFDE7"/>
                    </a:solidFill>
                  </a:tcPr>
                </a:tc>
                <a:extLst>
                  <a:ext uri="{0D108BD9-81ED-4DB2-BD59-A6C34878D82A}">
                    <a16:rowId xmlns:a16="http://schemas.microsoft.com/office/drawing/2014/main" val="3342559057"/>
                  </a:ext>
                </a:extLst>
              </a:tr>
              <a:tr h="564418">
                <a:tc>
                  <a:txBody>
                    <a:bodyPr/>
                    <a:lstStyle/>
                    <a:p>
                      <a:pPr algn="ctr" latinLnBrk="1"/>
                      <a:r>
                        <a:rPr lang="ko-KR" altLang="en-US" sz="2400" b="1" dirty="0" smtClean="0">
                          <a:solidFill>
                            <a:schemeClr val="bg1"/>
                          </a:solidFill>
                        </a:rPr>
                        <a:t>서비스</a:t>
                      </a:r>
                      <a:r>
                        <a:rPr lang="ko-KR" altLang="en-US" sz="2400" b="1" baseline="0" dirty="0" smtClean="0">
                          <a:solidFill>
                            <a:schemeClr val="bg1"/>
                          </a:solidFill>
                        </a:rPr>
                        <a:t> </a:t>
                      </a:r>
                      <a:r>
                        <a:rPr lang="ko-KR" altLang="en-US" sz="2400" b="1" dirty="0" smtClean="0">
                          <a:solidFill>
                            <a:schemeClr val="bg1"/>
                          </a:solidFill>
                        </a:rPr>
                        <a:t>명</a:t>
                      </a:r>
                      <a:endParaRPr lang="ko-KR" altLang="en-US" sz="2400" b="1" dirty="0">
                        <a:solidFill>
                          <a:schemeClr val="bg1"/>
                        </a:solidFill>
                      </a:endParaRPr>
                    </a:p>
                  </a:txBody>
                  <a:tcPr anchor="ct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solidFill>
                      <a:srgbClr val="FFA401"/>
                    </a:solidFill>
                  </a:tcPr>
                </a:tc>
                <a:tc>
                  <a:txBody>
                    <a:bodyPr wrap="square"/>
                    <a:lstStyle/>
                    <a:p>
                      <a:pPr latinLnBrk="1" algn="ctr">
                        <a:spcAft>
                          <a:spcPts val="400"/>
                        </a:spcAft>
                      </a:pPr>
                      <a:r>
                        <a:rPr sz="1600" b="0">
                          <a:solidFill>
                            <a:srgbClr val="1A1A1A"/>
                          </a:solidFill>
                          <a:latin typeface="맑은 고딕"/>
                        </a:rPr>
                        <a:t>이모추!</a:t>
                      </a:r>
                      <a:endParaRPr lang="ko-KR" altLang="en-US" sz="2400"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solidFill>
                      <a:srgbClr val="FFFDE7"/>
                    </a:solidFill>
                  </a:tcPr>
                </a:tc>
                <a:extLst>
                  <a:ext uri="{0D108BD9-81ED-4DB2-BD59-A6C34878D82A}">
                    <a16:rowId xmlns:a16="http://schemas.microsoft.com/office/drawing/2014/main" val="2441169869"/>
                  </a:ext>
                </a:extLst>
              </a:tr>
            </a:tbl>
          </a:graphicData>
        </a:graphic>
      </p:graphicFrame>
    </p:spTree>
    <p:extLst>
      <p:ext uri="{BB962C8B-B14F-4D97-AF65-F5344CB8AC3E}">
        <p14:creationId xmlns:p14="http://schemas.microsoft.com/office/powerpoint/2010/main" val="13534498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표 16"/>
          <p:cNvGraphicFramePr>
            <a:graphicFrameLocks noGrp="1"/>
          </p:cNvGraphicFramePr>
          <p:nvPr>
            <p:extLst>
              <p:ext uri="{D42A27DB-BD31-4B8C-83A1-F6EECF244321}">
                <p14:modId xmlns:p14="http://schemas.microsoft.com/office/powerpoint/2010/main" val="3131695012"/>
              </p:ext>
            </p:extLst>
          </p:nvPr>
        </p:nvGraphicFramePr>
        <p:xfrm>
          <a:off x="287250" y="1218429"/>
          <a:ext cx="11649825" cy="4750109"/>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3">
                  <a:extLst>
                    <a:ext uri="{9D8B030D-6E8A-4147-A177-3AD203B41FA5}">
                      <a16:colId xmlns:a16="http://schemas.microsoft.com/office/drawing/2014/main" val="3999346814"/>
                    </a:ext>
                  </a:extLst>
                </a:gridCol>
              </a:tblGrid>
              <a:tr h="547212">
                <a:tc>
                  <a:txBody>
                    <a:bodyPr/>
                    <a:lstStyle/>
                    <a:p>
                      <a:pPr algn="ctr" latinLnBrk="1"/>
                      <a:r>
                        <a:rPr lang="ko-KR" altLang="en-US" b="1" dirty="0" smtClean="0">
                          <a:solidFill>
                            <a:schemeClr val="bg1"/>
                          </a:solidFill>
                        </a:rPr>
                        <a:t>서비스명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wrap="square"/>
                    <a:lstStyle/>
                    <a:p>
                      <a:pPr marL="0" lvl="0" indent="0" algn="l" rtl="0">
                        <a:spcBef>
                          <a:spcPts val="0"/>
                        </a:spcBef>
                        <a:spcAft>
                          <a:spcPts val="400"/>
                        </a:spcAft>
                        <a:buNone/>
                      </a:pPr>
                      <a:r>
                        <a:rPr sz="1400" b="0">
                          <a:solidFill>
                            <a:srgbClr val="1A1A1A"/>
                          </a:solidFill>
                          <a:latin typeface="맑은 고딕"/>
                        </a:rPr>
                        <a:t>이모추!</a:t>
                      </a:r>
                      <a:endParaRPr lang="en-US" altLang="ko-KR" sz="1800" b="0" baseline="0" dirty="0" smtClean="0">
                        <a:solidFill>
                          <a:schemeClr val="tx1"/>
                        </a:solidFill>
                        <a:latin typeface="+mn-lt"/>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731060">
                <a:tc>
                  <a:txBody>
                    <a:bodyPr/>
                    <a:lstStyle/>
                    <a:p>
                      <a:pPr algn="ctr" latinLnBrk="1"/>
                      <a:r>
                        <a:rPr lang="ko-KR" altLang="en-US" b="1" dirty="0" smtClean="0">
                          <a:solidFill>
                            <a:schemeClr val="bg1"/>
                          </a:solidFill>
                        </a:rPr>
                        <a:t>서비스 유형</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wrap="square"/>
                    <a:lstStyle/>
                    <a:p>
                      <a:pPr marL="0" lvl="0" indent="0" algn="l" rtl="0">
                        <a:spcBef>
                          <a:spcPts val="0"/>
                        </a:spcBef>
                        <a:spcAft>
                          <a:spcPts val="400"/>
                        </a:spcAft>
                        <a:buNone/>
                      </a:pPr>
                      <a:r>
                        <a:rPr sz="1400" b="0">
                          <a:solidFill>
                            <a:srgbClr val="1A1A1A"/>
                          </a:solidFill>
                          <a:latin typeface="맑은 고딕"/>
                        </a:rPr>
                        <a:t>웹 서비스</a:t>
                      </a:r>
                      <a:endParaRPr lang="en-US" altLang="ko-KR" sz="1800" b="0" dirty="0" smtClean="0">
                        <a:solidFill>
                          <a:srgbClr val="FF0000"/>
                        </a:solidFill>
                        <a:latin typeface="+mn-lt"/>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26837495"/>
                  </a:ext>
                </a:extLst>
              </a:tr>
              <a:tr h="1030246">
                <a:tc>
                  <a:txBody>
                    <a:bodyPr/>
                    <a:lstStyle/>
                    <a:p>
                      <a:pPr algn="ctr" latinLnBrk="1"/>
                      <a:r>
                        <a:rPr lang="ko-KR" altLang="en-US" b="1" dirty="0" smtClean="0">
                          <a:solidFill>
                            <a:schemeClr val="bg1"/>
                          </a:solidFill>
                        </a:rPr>
                        <a:t>서비스 개요</a:t>
                      </a:r>
                      <a:endParaRPr lang="en-US" altLang="ko-KR" b="1" dirty="0"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400" b="0">
                          <a:solidFill>
                            <a:srgbClr val="1A1A1A"/>
                          </a:solidFill>
                          <a:latin typeface="맑은 고딕"/>
                        </a:rPr>
                        <a:t>목적지·기분·여행 시간·동반자·취향을 선택하면 한국관광공사 관광정보를 바탕으로 AI가 주말 여행 코스를 제안하는 웹 서비스입니다.</a:t>
                      </a: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64568051"/>
                  </a:ext>
                </a:extLst>
              </a:tr>
              <a:tr h="2441591">
                <a:tc>
                  <a:txBody>
                    <a:bodyPr/>
                    <a:lstStyle/>
                    <a:p>
                      <a:pPr algn="ctr" latinLnBrk="1"/>
                      <a:r>
                        <a:rPr lang="ko-KR" altLang="en-US" b="1" dirty="0" smtClean="0">
                          <a:solidFill>
                            <a:schemeClr val="bg1"/>
                          </a:solidFill>
                        </a:rPr>
                        <a:t>주제 선정 이유</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300" b="0">
                          <a:solidFill>
                            <a:srgbClr val="1A1A1A"/>
                          </a:solidFill>
                          <a:latin typeface="맑은 고딕"/>
                        </a:rPr>
                        <a:t>주말 나들이를 준비할 때 이용자는 장소를 검색하는 것에 더해 이동 순서, 식사와 휴식, 방문일의 정기 휴무, 날씨, 동반자에게 필요한 편의시설을 각각 따로 확인해야 합니다.</a:t>
                      </a:r>
                    </a:p>
                    <a:p>
                      <a:pPr algn="l">
                        <a:spcAft>
                          <a:spcPts val="400"/>
                        </a:spcAft>
                      </a:pPr>
                      <a:r>
                        <a:rPr sz="1300" b="0">
                          <a:solidFill>
                            <a:srgbClr val="1A1A1A"/>
                          </a:solidFill>
                          <a:latin typeface="맑은 고딕"/>
                        </a:rPr>
                        <a:t>이모추는 공공 관광 데이터를 이용자의 조건에 맞는 코스 초안으로 연결해 이 탐색과 조합의 부담을 줄이고자 했습니다.</a:t>
                      </a:r>
                    </a:p>
                    <a:p>
                      <a:pPr algn="l">
                        <a:spcAft>
                          <a:spcPts val="400"/>
                        </a:spcAft>
                      </a:pPr>
                      <a:r>
                        <a:rPr sz="1300" b="0">
                          <a:solidFill>
                            <a:srgbClr val="1A1A1A"/>
                          </a:solidFill>
                          <a:latin typeface="맑은 고딕"/>
                        </a:rPr>
                        <a:t/>
                      </a:r>
                    </a:p>
                    <a:p>
                      <a:pPr algn="l">
                        <a:spcAft>
                          <a:spcPts val="400"/>
                        </a:spcAft>
                      </a:pPr>
                      <a:r>
                        <a:rPr sz="1300" b="0">
                          <a:solidFill>
                            <a:srgbClr val="1A1A1A"/>
                          </a:solidFill>
                          <a:latin typeface="맑은 고딕"/>
                        </a:rPr>
                        <a:t>또한 추천을 단정하지 않는 것을 원칙으로 삼았습니다. 관광정보에 원본이 있더라도 실시간 영업·예약·접근 가능 여부까지 보장되는 것은 아니므로, 데이터로 확인된 부분과 확인되지 않은 부분을 구분해 표시하고 이용자가 직접 확인해야 할 지점을 드러냅니다.</a:t>
                      </a: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7412154"/>
                  </a:ext>
                </a:extLst>
              </a:tr>
            </a:tbl>
          </a:graphicData>
        </a:graphic>
      </p:graphicFrame>
    </p:spTree>
    <p:extLst>
      <p:ext uri="{BB962C8B-B14F-4D97-AF65-F5344CB8AC3E}">
        <p14:creationId xmlns:p14="http://schemas.microsoft.com/office/powerpoint/2010/main" val="15260009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표 16"/>
          <p:cNvGraphicFramePr>
            <a:graphicFrameLocks noGrp="1"/>
          </p:cNvGraphicFramePr>
          <p:nvPr>
            <p:extLst>
              <p:ext uri="{D42A27DB-BD31-4B8C-83A1-F6EECF244321}">
                <p14:modId xmlns:p14="http://schemas.microsoft.com/office/powerpoint/2010/main" val="3960646751"/>
              </p:ext>
            </p:extLst>
          </p:nvPr>
        </p:nvGraphicFramePr>
        <p:xfrm>
          <a:off x="287250" y="1218429"/>
          <a:ext cx="11649826" cy="4733484"/>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4">
                  <a:extLst>
                    <a:ext uri="{9D8B030D-6E8A-4147-A177-3AD203B41FA5}">
                      <a16:colId xmlns:a16="http://schemas.microsoft.com/office/drawing/2014/main" val="3999346814"/>
                    </a:ext>
                  </a:extLst>
                </a:gridCol>
              </a:tblGrid>
              <a:tr h="4733484">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b="1" dirty="0" smtClean="0">
                          <a:solidFill>
                            <a:schemeClr val="bg1"/>
                          </a:solidFill>
                        </a:rPr>
                        <a:t>서비스 핵심기능</a:t>
                      </a:r>
                    </a:p>
                    <a:p>
                      <a:pPr algn="ctr" latinLnBrk="1"/>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wrap="square"/>
                    <a:lstStyle/>
                    <a:p>
                      <a:pPr marL="0" marR="0" lvl="0" indent="0" algn="l" defTabSz="914400" rtl="0" eaLnBrk="1" fontAlgn="auto" latinLnBrk="1" hangingPunct="1">
                        <a:lnSpc>
                          <a:spcPct val="100000"/>
                        </a:lnSpc>
                        <a:spcBef>
                          <a:spcPts val="0"/>
                        </a:spcBef>
                        <a:spcAft>
                          <a:spcPts val="800"/>
                        </a:spcAft>
                        <a:buClrTx/>
                        <a:buSzTx/>
                        <a:buFontTx/>
                        <a:buNone/>
                        <a:tabLst/>
                        <a:defRPr/>
                      </a:pPr>
                      <a:r>
                        <a:rPr sz="1500" b="0">
                          <a:solidFill>
                            <a:srgbClr val="1A1A1A"/>
                          </a:solidFill>
                          <a:latin typeface="맑은 고딕"/>
                        </a:rPr>
                        <a:t>- 4단계 조건 입력과 AI 주말 코스 생성</a:t>
                      </a:r>
                    </a:p>
                    <a:p>
                      <a:pPr algn="l">
                        <a:spcAft>
                          <a:spcPts val="800"/>
                        </a:spcAft>
                      </a:pPr>
                      <a:r>
                        <a:rPr sz="1500" b="0">
                          <a:solidFill>
                            <a:srgbClr val="1A1A1A"/>
                          </a:solidFill>
                          <a:latin typeface="맑은 고딕"/>
                        </a:rPr>
                        <a:t>- 방문일·원본·시간표 검증 및 미확인 항목 표시</a:t>
                      </a:r>
                    </a:p>
                    <a:p>
                      <a:pPr algn="l">
                        <a:spcAft>
                          <a:spcPts val="800"/>
                        </a:spcAft>
                      </a:pPr>
                      <a:r>
                        <a:rPr sz="1500" b="0">
                          <a:solidFill>
                            <a:srgbClr val="1A1A1A"/>
                          </a:solidFill>
                          <a:latin typeface="맑은 고딕"/>
                        </a:rPr>
                        <a:t>- 접근성 정보 기반 후보 우선순위 (무장애 여행정보 API 활용)</a:t>
                      </a:r>
                    </a:p>
                    <a:p>
                      <a:pPr algn="l">
                        <a:spcAft>
                          <a:spcPts val="800"/>
                        </a:spcAft>
                      </a:pPr>
                      <a:r>
                        <a:rPr sz="1500" b="0">
                          <a:solidFill>
                            <a:srgbClr val="1A1A1A"/>
                          </a:solidFill>
                          <a:latin typeface="맑은 고딕"/>
                        </a:rPr>
                        <a:t>- 여행일 오행 테마 (선택 기능)</a:t>
                      </a:r>
                    </a:p>
                    <a:p>
                      <a:pPr algn="l">
                        <a:spcAft>
                          <a:spcPts val="800"/>
                        </a:spcAft>
                      </a:pPr>
                      <a:r>
                        <a:rPr sz="1500" b="0">
                          <a:solidFill>
                            <a:srgbClr val="1A1A1A"/>
                          </a:solidFill>
                          <a:latin typeface="맑은 고딕"/>
                        </a:rPr>
                        <a:t>- 반응형 결과 확인, 장소 교체, 저장·공유</a:t>
                      </a:r>
                    </a:p>
                    <a:p>
                      <a:pPr algn="l">
                        <a:spcAft>
                          <a:spcPts val="800"/>
                        </a:spcAft>
                      </a:pPr>
                      <a:r>
                        <a:rPr sz="1500" b="0">
                          <a:solidFill>
                            <a:srgbClr val="1A1A1A"/>
                          </a:solidFill>
                          <a:latin typeface="맑은 고딕"/>
                        </a:rPr>
                        <a:t/>
                      </a:r>
                    </a:p>
                    <a:p>
                      <a:pPr algn="l">
                        <a:spcAft>
                          <a:spcPts val="800"/>
                        </a:spcAft>
                      </a:pPr>
                      <a:r>
                        <a:rPr sz="1500" b="0">
                          <a:solidFill>
                            <a:srgbClr val="1A1A1A"/>
                          </a:solidFill>
                          <a:latin typeface="맑은 고딕"/>
                        </a:rPr>
                        <a:t>* 각 기능의 상세 설명과 화면 흐름은 [서비스 핵심 기능별 흐름도] 슬라이드에 작성했습니다.</a:t>
                      </a: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bl>
          </a:graphicData>
        </a:graphic>
      </p:graphicFrame>
    </p:spTree>
    <p:extLst>
      <p:ext uri="{BB962C8B-B14F-4D97-AF65-F5344CB8AC3E}">
        <p14:creationId xmlns:p14="http://schemas.microsoft.com/office/powerpoint/2010/main" val="40986881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표 16"/>
          <p:cNvGraphicFramePr>
            <a:graphicFrameLocks noGrp="1"/>
          </p:cNvGraphicFramePr>
          <p:nvPr>
            <p:extLst>
              <p:ext uri="{D42A27DB-BD31-4B8C-83A1-F6EECF244321}">
                <p14:modId xmlns:p14="http://schemas.microsoft.com/office/powerpoint/2010/main" val="1267559681"/>
              </p:ext>
            </p:extLst>
          </p:nvPr>
        </p:nvGraphicFramePr>
        <p:xfrm>
          <a:off x="287250" y="1218429"/>
          <a:ext cx="11649826" cy="4991178"/>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4">
                  <a:extLst>
                    <a:ext uri="{9D8B030D-6E8A-4147-A177-3AD203B41FA5}">
                      <a16:colId xmlns:a16="http://schemas.microsoft.com/office/drawing/2014/main" val="3999346814"/>
                    </a:ext>
                  </a:extLst>
                </a:gridCol>
              </a:tblGrid>
              <a:tr h="1847697">
                <a:tc>
                  <a:txBody>
                    <a:bodyPr/>
                    <a:lstStyle/>
                    <a:p>
                      <a:pPr algn="ctr" latinLnBrk="1"/>
                      <a:r>
                        <a:rPr lang="ko-KR" altLang="en-US" b="1" dirty="0" smtClean="0">
                          <a:solidFill>
                            <a:schemeClr val="bg1"/>
                          </a:solidFill>
                        </a:rPr>
                        <a:t>서비스</a:t>
                      </a:r>
                      <a:endParaRPr lang="en-US" altLang="ko-KR" b="1" dirty="0" smtClean="0">
                        <a:solidFill>
                          <a:schemeClr val="bg1"/>
                        </a:solidFill>
                      </a:endParaRPr>
                    </a:p>
                    <a:p>
                      <a:pPr algn="ctr" latinLnBrk="1"/>
                      <a:r>
                        <a:rPr lang="ko-KR" altLang="en-US" b="1" dirty="0" smtClean="0">
                          <a:solidFill>
                            <a:schemeClr val="bg1"/>
                          </a:solidFill>
                        </a:rPr>
                        <a:t>대표 이미지</a:t>
                      </a:r>
                      <a:endParaRPr lang="en-US" altLang="ko-KR" b="1" dirty="0" smtClean="0">
                        <a:solidFill>
                          <a:schemeClr val="bg1"/>
                        </a:solidFill>
                      </a:endParaRPr>
                    </a:p>
                    <a:p>
                      <a:pPr algn="ctr" latinLnBrk="1"/>
                      <a:r>
                        <a:rPr lang="en-US" altLang="ko-KR" b="1" dirty="0" smtClean="0">
                          <a:solidFill>
                            <a:schemeClr val="bg1"/>
                          </a:solidFill>
                        </a:rPr>
                        <a:t>(</a:t>
                      </a:r>
                      <a:r>
                        <a:rPr lang="ko-KR" altLang="en-US" b="1" dirty="0" err="1" smtClean="0">
                          <a:solidFill>
                            <a:schemeClr val="bg1"/>
                          </a:solidFill>
                        </a:rPr>
                        <a:t>썸네일</a:t>
                      </a:r>
                      <a:r>
                        <a:rPr lang="en-US" altLang="ko-KR" b="1" dirty="0" smtClean="0">
                          <a:solidFill>
                            <a:schemeClr val="bg1"/>
                          </a:solidFill>
                        </a:rPr>
                        <a:t>)</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200" b="0">
                          <a:solidFill>
                            <a:srgbClr val="1A1A1A"/>
                          </a:solidFill>
                          <a:latin typeface="맑은 고딕"/>
                        </a:rPr>
                        <a:t/>
                      </a:r>
                      <a:endParaRPr lang="en-US" altLang="ko-KR" sz="1800" b="0" dirty="0" smtClean="0">
                        <a:solidFill>
                          <a:srgbClr val="FF0000"/>
                        </a:solidFill>
                        <a:latin typeface="+mn-lt"/>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3143481">
                <a:tc>
                  <a:txBody>
                    <a:bodyPr/>
                    <a:lstStyle/>
                    <a:p>
                      <a:pPr algn="ctr" latinLnBrk="1"/>
                      <a:r>
                        <a:rPr lang="ko-KR" altLang="en-US" b="1" dirty="0" smtClean="0">
                          <a:solidFill>
                            <a:schemeClr val="bg1"/>
                          </a:solidFill>
                        </a:rPr>
                        <a:t>서비스</a:t>
                      </a:r>
                      <a:endParaRPr lang="en-US" altLang="ko-KR" b="1" dirty="0" smtClean="0">
                        <a:solidFill>
                          <a:schemeClr val="bg1"/>
                        </a:solidFill>
                      </a:endParaRPr>
                    </a:p>
                    <a:p>
                      <a:pPr algn="ctr" latinLnBrk="1"/>
                      <a:r>
                        <a:rPr lang="ko-KR" altLang="en-US" b="1" dirty="0" smtClean="0">
                          <a:solidFill>
                            <a:schemeClr val="bg1"/>
                          </a:solidFill>
                        </a:rPr>
                        <a:t>상세 이미지</a:t>
                      </a:r>
                      <a:endParaRPr lang="en-US" altLang="ko-KR" b="1" dirty="0"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200" b="0">
                          <a:solidFill>
                            <a:srgbClr val="1A1A1A"/>
                          </a:solidFill>
                          <a:latin typeface="맑은 고딕"/>
                        </a:rPr>
                        <a:t/>
                      </a:r>
                      <a:endParaRPr lang="en-US" altLang="ko-KR" sz="1800" b="0" dirty="0" smtClean="0">
                        <a:solidFill>
                          <a:srgbClr val="FF0000"/>
                        </a:solidFill>
                        <a:latin typeface="+mn-lt"/>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7412154"/>
                  </a:ext>
                </a:extLst>
              </a:tr>
            </a:tbl>
          </a:graphicData>
        </a:graphic>
      </p:graphicFrame>
      <p:pic>
        <p:nvPicPr>
          <p:cNvPr id="18" name="Picture 17" descr="resultTop.png"/>
          <p:cNvPicPr>
            <a:picLocks noChangeAspect="1"/>
          </p:cNvPicPr>
          <p:nvPr/>
        </p:nvPicPr>
        <p:blipFill>
          <a:blip r:embed="rId2"/>
          <a:stretch>
            <a:fillRect/>
          </a:stretch>
        </p:blipFill>
        <p:spPr>
          <a:xfrm>
            <a:off x="5039582" y="1245861"/>
            <a:ext cx="4100382" cy="1792832"/>
          </a:xfrm>
          <a:prstGeom prst="rect">
            <a:avLst/>
          </a:prstGeom>
        </p:spPr>
      </p:pic>
      <p:pic>
        <p:nvPicPr>
          <p:cNvPr id="19" name="Picture 18" descr="home.png"/>
          <p:cNvPicPr>
            <a:picLocks noChangeAspect="1"/>
          </p:cNvPicPr>
          <p:nvPr/>
        </p:nvPicPr>
        <p:blipFill>
          <a:blip r:embed="rId3"/>
          <a:stretch>
            <a:fillRect/>
          </a:stretch>
        </p:blipFill>
        <p:spPr>
          <a:xfrm>
            <a:off x="2288192" y="3111845"/>
            <a:ext cx="1847480" cy="1276820"/>
          </a:xfrm>
          <a:prstGeom prst="rect">
            <a:avLst/>
          </a:prstGeom>
        </p:spPr>
      </p:pic>
      <p:pic>
        <p:nvPicPr>
          <p:cNvPr id="20" name="Picture 19" descr="sajuOn.png"/>
          <p:cNvPicPr>
            <a:picLocks noChangeAspect="1"/>
          </p:cNvPicPr>
          <p:nvPr/>
        </p:nvPicPr>
        <p:blipFill>
          <a:blip r:embed="rId4"/>
          <a:stretch>
            <a:fillRect/>
          </a:stretch>
        </p:blipFill>
        <p:spPr>
          <a:xfrm>
            <a:off x="4227112" y="3111845"/>
            <a:ext cx="1847480" cy="832538"/>
          </a:xfrm>
          <a:prstGeom prst="rect">
            <a:avLst/>
          </a:prstGeom>
        </p:spPr>
      </p:pic>
      <p:pic>
        <p:nvPicPr>
          <p:cNvPr id="21" name="Picture 20" descr="access.png"/>
          <p:cNvPicPr>
            <a:picLocks noChangeAspect="1"/>
          </p:cNvPicPr>
          <p:nvPr/>
        </p:nvPicPr>
        <p:blipFill>
          <a:blip r:embed="rId5"/>
          <a:stretch>
            <a:fillRect/>
          </a:stretch>
        </p:blipFill>
        <p:spPr>
          <a:xfrm>
            <a:off x="6166033" y="3111845"/>
            <a:ext cx="1847480" cy="955009"/>
          </a:xfrm>
          <a:prstGeom prst="rect">
            <a:avLst/>
          </a:prstGeom>
        </p:spPr>
      </p:pic>
      <p:pic>
        <p:nvPicPr>
          <p:cNvPr id="22" name="Picture 21" descr="festival.png"/>
          <p:cNvPicPr>
            <a:picLocks noChangeAspect="1"/>
          </p:cNvPicPr>
          <p:nvPr/>
        </p:nvPicPr>
        <p:blipFill>
          <a:blip r:embed="rId6"/>
          <a:stretch>
            <a:fillRect/>
          </a:stretch>
        </p:blipFill>
        <p:spPr>
          <a:xfrm>
            <a:off x="8104954" y="3111845"/>
            <a:ext cx="1847480" cy="1667683"/>
          </a:xfrm>
          <a:prstGeom prst="rect">
            <a:avLst/>
          </a:prstGeom>
        </p:spPr>
      </p:pic>
      <p:pic>
        <p:nvPicPr>
          <p:cNvPr id="23" name="Picture 22" descr="share.png"/>
          <p:cNvPicPr>
            <a:picLocks noChangeAspect="1"/>
          </p:cNvPicPr>
          <p:nvPr/>
        </p:nvPicPr>
        <p:blipFill>
          <a:blip r:embed="rId7"/>
          <a:stretch>
            <a:fillRect/>
          </a:stretch>
        </p:blipFill>
        <p:spPr>
          <a:xfrm>
            <a:off x="10043875" y="3111845"/>
            <a:ext cx="1847480" cy="885956"/>
          </a:xfrm>
          <a:prstGeom prst="rect">
            <a:avLst/>
          </a:prstGeom>
        </p:spPr>
      </p:pic>
    </p:spTree>
    <p:extLst>
      <p:ext uri="{BB962C8B-B14F-4D97-AF65-F5344CB8AC3E}">
        <p14:creationId xmlns:p14="http://schemas.microsoft.com/office/powerpoint/2010/main" val="28229692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표 7"/>
          <p:cNvGraphicFramePr>
            <a:graphicFrameLocks noGrp="1"/>
          </p:cNvGraphicFramePr>
          <p:nvPr>
            <p:extLst>
              <p:ext uri="{D42A27DB-BD31-4B8C-83A1-F6EECF244321}">
                <p14:modId xmlns:p14="http://schemas.microsoft.com/office/powerpoint/2010/main" val="2957004574"/>
              </p:ext>
            </p:extLst>
          </p:nvPr>
        </p:nvGraphicFramePr>
        <p:xfrm>
          <a:off x="302952" y="1933326"/>
          <a:ext cx="11426308" cy="4605842"/>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7145">
                <a:tc gridSpan="4">
                  <a:txBody>
                    <a:bodyPr/>
                    <a:lstStyle/>
                    <a:p>
                      <a:pPr algn="ctr" latinLnBrk="1"/>
                      <a:r>
                        <a:rPr lang="ko-KR" altLang="en-US" dirty="0" smtClean="0">
                          <a:solidFill>
                            <a:schemeClr val="bg1"/>
                          </a:solidFill>
                        </a:rPr>
                        <a:t>기능</a:t>
                      </a:r>
                      <a:r>
                        <a:rPr lang="ko-KR" altLang="en-US" baseline="0" dirty="0" smtClean="0">
                          <a:solidFill>
                            <a:schemeClr val="bg1"/>
                          </a:solidFill>
                        </a:rPr>
                        <a:t> </a:t>
                      </a:r>
                      <a:r>
                        <a:rPr lang="ko-KR" altLang="en-US" dirty="0" smtClean="0">
                          <a:solidFill>
                            <a:schemeClr val="bg1"/>
                          </a:solidFill>
                        </a:rPr>
                        <a:t>흐름도</a:t>
                      </a:r>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806208">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000" b="0">
                          <a:solidFill>
                            <a:srgbClr val="1A1A1A"/>
                          </a:solidFill>
                          <a:latin typeface="맑은 고딕"/>
                        </a:rPr>
                        <a:t/>
                      </a:r>
                      <a:endParaRPr lang="en-US" altLang="ko-KR" sz="1800" b="0" dirty="0" smtClean="0">
                        <a:solidFill>
                          <a:srgbClr val="FF0000"/>
                        </a:solidFill>
                        <a:latin typeface="+mn-lt"/>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000" b="0">
                          <a:solidFill>
                            <a:srgbClr val="1A1A1A"/>
                          </a:solidFill>
                          <a:latin typeface="맑은 고딕"/>
                        </a:rPr>
                        <a:t/>
                      </a:r>
                      <a:endParaRPr lang="ko-KR" altLang="en-US" b="0" dirty="0" smtClean="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000" b="0">
                          <a:solidFill>
                            <a:srgbClr val="1A1A1A"/>
                          </a:solidFill>
                          <a:latin typeface="맑은 고딕"/>
                        </a:rPr>
                        <a:t/>
                      </a:r>
                      <a:endParaRPr lang="ko-KR" altLang="en-US" b="0" dirty="0" smtClean="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000" b="0">
                          <a:solidFill>
                            <a:srgbClr val="1A1A1A"/>
                          </a:solidFill>
                          <a:latin typeface="맑은 고딕"/>
                        </a:rPr>
                        <a:t/>
                      </a:r>
                      <a:endParaRPr lang="ko-KR" altLang="en-US" b="0" dirty="0" smtClean="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433874">
                <a:tc>
                  <a:txBody>
                    <a:bodyPr wrap="square"/>
                    <a:lstStyle/>
                    <a:p>
                      <a:pPr marL="0" marR="0" lvl="0" indent="0" algn="l" defTabSz="914400" rtl="0" eaLnBrk="1" fontAlgn="auto" latinLnBrk="1" hangingPunct="1">
                        <a:lnSpc>
                          <a:spcPct val="100000"/>
                        </a:lnSpc>
                        <a:spcBef>
                          <a:spcPts val="0"/>
                        </a:spcBef>
                        <a:spcAft>
                          <a:spcPts val="200"/>
                        </a:spcAft>
                        <a:buClrTx/>
                        <a:buSzTx/>
                        <a:buFontTx/>
                        <a:buNone/>
                        <a:tabLst/>
                        <a:defRPr/>
                      </a:pPr>
                      <a:r>
                        <a:rPr sz="1050" b="0">
                          <a:solidFill>
                            <a:srgbClr val="1A1A1A"/>
                          </a:solidFill>
                          <a:latin typeface="맑은 고딕"/>
                        </a:rPr>
                        <a:t>1. 홈 화면에서 이번 주말 코스 만들기를 시작합니다.</a:t>
                      </a:r>
                      <a:endParaRPr lang="en-US" altLang="ko-KR" b="0" dirty="0" smtClean="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algn="l" latinLnBrk="1">
                        <a:spcAft>
                          <a:spcPts val="200"/>
                        </a:spcAft>
                      </a:pPr>
                      <a:r>
                        <a:rPr sz="1050" b="0">
                          <a:solidFill>
                            <a:srgbClr val="1A1A1A"/>
                          </a:solidFill>
                          <a:latin typeface="맑은 고딕"/>
                        </a:rPr>
                        <a:t>2. 1단계 — 목적지(내 주변·도시 선택·랜덤)와 오늘의 기분을 고릅니다.</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algn="l" latinLnBrk="1">
                        <a:spcAft>
                          <a:spcPts val="200"/>
                        </a:spcAft>
                      </a:pPr>
                      <a:r>
                        <a:rPr sz="1050" b="0">
                          <a:solidFill>
                            <a:srgbClr val="1A1A1A"/>
                          </a:solidFill>
                          <a:latin typeface="맑은 고딕"/>
                        </a:rPr>
                        <a:t>3. 3단계 — 여행 시간과 방문 요일(토/일), 동반자를 고릅니다.</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algn="l" latinLnBrk="1">
                        <a:spcAft>
                          <a:spcPts val="200"/>
                        </a:spcAft>
                      </a:pPr>
                      <a:r>
                        <a:rPr sz="1050" b="0">
                          <a:solidFill>
                            <a:srgbClr val="1A1A1A"/>
                          </a:solidFill>
                          <a:latin typeface="맑은 고딕"/>
                        </a:rPr>
                        <a:t>4. AI가 시간표·이동 시간·장소 설명을 갖춘 코스를 생성합니다.</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15" name="표 14"/>
          <p:cNvGraphicFramePr>
            <a:graphicFrameLocks noGrp="1"/>
          </p:cNvGraphicFramePr>
          <p:nvPr>
            <p:extLst>
              <p:ext uri="{D42A27DB-BD31-4B8C-83A1-F6EECF244321}">
                <p14:modId xmlns:p14="http://schemas.microsoft.com/office/powerpoint/2010/main" val="2744280268"/>
              </p:ext>
            </p:extLst>
          </p:nvPr>
        </p:nvGraphicFramePr>
        <p:xfrm>
          <a:off x="302952" y="1130530"/>
          <a:ext cx="11426308" cy="73152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236913">
                <a:tc>
                  <a:txBody>
                    <a:bodyPr wrap="square"/>
                    <a:lstStyle/>
                    <a:p>
                      <a:pPr algn="ctr" latinLnBrk="1">
                        <a:spcAft>
                          <a:spcPts val="400"/>
                        </a:spcAft>
                      </a:pPr>
                      <a:r>
                        <a:rPr sz="1200" b="1">
                          <a:solidFill>
                            <a:srgbClr val="1A1A1A"/>
                          </a:solidFill>
                          <a:latin typeface="맑은 고딕"/>
                        </a:rPr>
                        <a:t>핵심 기능1</a:t>
                      </a:r>
                      <a:endParaRPr lang="ko-KR" altLang="en-US" b="1" dirty="0">
                        <a:solidFill>
                          <a:schemeClr val="bg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wrap="square"/>
                    <a:lstStyle/>
                    <a:p>
                      <a:pPr latinLnBrk="1" algn="l">
                        <a:spcAft>
                          <a:spcPts val="400"/>
                        </a:spcAft>
                      </a:pPr>
                      <a:r>
                        <a:rPr sz="1200" b="1">
                          <a:solidFill>
                            <a:srgbClr val="1A1A1A"/>
                          </a:solidFill>
                          <a:latin typeface="맑은 고딕"/>
                        </a:rPr>
                        <a:t>4단계 조건 입력과 AI 주말 코스 생성</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236913">
                <a:tc>
                  <a:txBody>
                    <a:bodyPr/>
                    <a:lstStyle/>
                    <a:p>
                      <a:pPr algn="ctr" latinLnBrk="1"/>
                      <a:r>
                        <a:rPr lang="ko-KR" altLang="en-US" b="1" dirty="0" smtClean="0">
                          <a:solidFill>
                            <a:schemeClr val="bg1"/>
                          </a:solidFill>
                        </a:rPr>
                        <a:t>기능 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050" b="0">
                          <a:solidFill>
                            <a:srgbClr val="1A1A1A"/>
                          </a:solidFill>
                          <a:latin typeface="맑은 고딕"/>
                        </a:rPr>
                        <a:t>목적지·기분·여행 시간·방문 요일·동반자·취향을 4단계로 입력받아, 관광 후보 수집 → 상세 정보 보강 → 취향·동반자·날씨·거리 점수화 → AI의 장소 선택·순서·시간·설명 생성 → 원본·방문일·일정 검증 순으로 주말 코스를 만듭니다. AI 호출이 실패하거나 시간 제한에 도달하면 실제 관광 후보를 활용한 규칙 기반 코스를 제공하고 생성 방식을 구분해 알립니다.</a:t>
                      </a:r>
                      <a:endParaRPr lang="ko-KR" altLang="en-US" b="0" dirty="0" smtClean="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pic>
        <p:nvPicPr>
          <p:cNvPr id="16" name="Picture 15" descr="home.png"/>
          <p:cNvPicPr>
            <a:picLocks noChangeAspect="1"/>
          </p:cNvPicPr>
          <p:nvPr/>
        </p:nvPicPr>
        <p:blipFill>
          <a:blip r:embed="rId2"/>
          <a:stretch>
            <a:fillRect/>
          </a:stretch>
        </p:blipFill>
        <p:spPr>
          <a:xfrm>
            <a:off x="339528" y="2297047"/>
            <a:ext cx="2783425" cy="1923664"/>
          </a:xfrm>
          <a:prstGeom prst="rect">
            <a:avLst/>
          </a:prstGeom>
        </p:spPr>
      </p:pic>
      <p:pic>
        <p:nvPicPr>
          <p:cNvPr id="17" name="Picture 16" descr="step1.png"/>
          <p:cNvPicPr>
            <a:picLocks noChangeAspect="1"/>
          </p:cNvPicPr>
          <p:nvPr/>
        </p:nvPicPr>
        <p:blipFill>
          <a:blip r:embed="rId3"/>
          <a:stretch>
            <a:fillRect/>
          </a:stretch>
        </p:blipFill>
        <p:spPr>
          <a:xfrm>
            <a:off x="3196104" y="2297047"/>
            <a:ext cx="2783425" cy="1992366"/>
          </a:xfrm>
          <a:prstGeom prst="rect">
            <a:avLst/>
          </a:prstGeom>
        </p:spPr>
      </p:pic>
      <p:pic>
        <p:nvPicPr>
          <p:cNvPr id="18" name="Picture 17" descr="when.png"/>
          <p:cNvPicPr>
            <a:picLocks noChangeAspect="1"/>
          </p:cNvPicPr>
          <p:nvPr/>
        </p:nvPicPr>
        <p:blipFill>
          <a:blip r:embed="rId4"/>
          <a:stretch>
            <a:fillRect/>
          </a:stretch>
        </p:blipFill>
        <p:spPr>
          <a:xfrm>
            <a:off x="6052681" y="2297047"/>
            <a:ext cx="2783425" cy="1305343"/>
          </a:xfrm>
          <a:prstGeom prst="rect">
            <a:avLst/>
          </a:prstGeom>
        </p:spPr>
      </p:pic>
      <p:pic>
        <p:nvPicPr>
          <p:cNvPr id="19" name="Picture 18" descr="result.png"/>
          <p:cNvPicPr>
            <a:picLocks noChangeAspect="1"/>
          </p:cNvPicPr>
          <p:nvPr/>
        </p:nvPicPr>
        <p:blipFill>
          <a:blip r:embed="rId5"/>
          <a:stretch>
            <a:fillRect/>
          </a:stretch>
        </p:blipFill>
        <p:spPr>
          <a:xfrm>
            <a:off x="8909259" y="2297047"/>
            <a:ext cx="2783425" cy="2316249"/>
          </a:xfrm>
          <a:prstGeom prst="rect">
            <a:avLst/>
          </a:prstGeom>
        </p:spPr>
      </p:pic>
    </p:spTree>
    <p:extLst>
      <p:ext uri="{BB962C8B-B14F-4D97-AF65-F5344CB8AC3E}">
        <p14:creationId xmlns:p14="http://schemas.microsoft.com/office/powerpoint/2010/main" val="67194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표 7"/>
          <p:cNvGraphicFramePr>
            <a:graphicFrameLocks noGrp="1"/>
          </p:cNvGraphicFramePr>
          <p:nvPr>
            <p:extLst>
              <p:ext uri="{D42A27DB-BD31-4B8C-83A1-F6EECF244321}">
                <p14:modId xmlns:p14="http://schemas.microsoft.com/office/powerpoint/2010/main" val="2957004574"/>
              </p:ext>
            </p:extLst>
          </p:nvPr>
        </p:nvGraphicFramePr>
        <p:xfrm>
          <a:off x="302952" y="1933326"/>
          <a:ext cx="11426308" cy="4605842"/>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7145">
                <a:tc gridSpan="4">
                  <a:txBody>
                    <a:bodyPr/>
                    <a:lstStyle/>
                    <a:p>
                      <a:pPr algn="ctr" latinLnBrk="1"/>
                      <a:r>
                        <a:rPr lang="ko-KR" altLang="en-US" dirty="0" smtClean="0">
                          <a:solidFill>
                            <a:schemeClr val="bg1"/>
                          </a:solidFill>
                        </a:rPr>
                        <a:t>기능</a:t>
                      </a:r>
                      <a:r>
                        <a:rPr lang="ko-KR" altLang="en-US" baseline="0" dirty="0" smtClean="0">
                          <a:solidFill>
                            <a:schemeClr val="bg1"/>
                          </a:solidFill>
                        </a:rPr>
                        <a:t> </a:t>
                      </a:r>
                      <a:r>
                        <a:rPr lang="ko-KR" altLang="en-US" dirty="0" smtClean="0">
                          <a:solidFill>
                            <a:schemeClr val="bg1"/>
                          </a:solidFill>
                        </a:rPr>
                        <a:t>흐름도</a:t>
                      </a:r>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806208">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000" b="0">
                          <a:solidFill>
                            <a:srgbClr val="1A1A1A"/>
                          </a:solidFill>
                          <a:latin typeface="맑은 고딕"/>
                        </a:rPr>
                        <a:t/>
                      </a:r>
                      <a:endParaRPr lang="en-US" altLang="ko-KR" sz="1800" b="0" dirty="0" smtClean="0">
                        <a:solidFill>
                          <a:srgbClr val="FF0000"/>
                        </a:solidFill>
                        <a:latin typeface="+mn-lt"/>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000" b="0">
                          <a:solidFill>
                            <a:srgbClr val="1A1A1A"/>
                          </a:solidFill>
                          <a:latin typeface="맑은 고딕"/>
                        </a:rPr>
                        <a:t/>
                      </a:r>
                      <a:endParaRPr lang="ko-KR" altLang="en-US" b="0" dirty="0" smtClean="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000" b="0">
                          <a:solidFill>
                            <a:srgbClr val="1A1A1A"/>
                          </a:solidFill>
                          <a:latin typeface="맑은 고딕"/>
                        </a:rPr>
                        <a:t/>
                      </a:r>
                      <a:endParaRPr lang="ko-KR" altLang="en-US" b="0" dirty="0" smtClean="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000" b="0">
                          <a:solidFill>
                            <a:srgbClr val="1A1A1A"/>
                          </a:solidFill>
                          <a:latin typeface="맑은 고딕"/>
                        </a:rPr>
                        <a:t/>
                      </a:r>
                      <a:endParaRPr lang="ko-KR" altLang="en-US" b="0" dirty="0" smtClean="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433874">
                <a:tc>
                  <a:txBody>
                    <a:bodyPr wrap="square"/>
                    <a:lstStyle/>
                    <a:p>
                      <a:pPr marL="0" marR="0" lvl="0" indent="0" algn="l" defTabSz="914400" rtl="0" eaLnBrk="1" fontAlgn="auto" latinLnBrk="1" hangingPunct="1">
                        <a:lnSpc>
                          <a:spcPct val="100000"/>
                        </a:lnSpc>
                        <a:spcBef>
                          <a:spcPts val="0"/>
                        </a:spcBef>
                        <a:spcAft>
                          <a:spcPts val="200"/>
                        </a:spcAft>
                        <a:buClrTx/>
                        <a:buSzTx/>
                        <a:buFontTx/>
                        <a:buNone/>
                        <a:tabLst/>
                        <a:defRPr/>
                      </a:pPr>
                      <a:r>
                        <a:rPr sz="1050" b="0">
                          <a:solidFill>
                            <a:srgbClr val="1A1A1A"/>
                          </a:solidFill>
                          <a:latin typeface="맑은 고딕"/>
                        </a:rPr>
                        <a:t>1. 방문 요일을 입력받아 휴무·날씨 검증의 기준 날짜를 정합니다.</a:t>
                      </a:r>
                      <a:endParaRPr lang="en-US" altLang="ko-KR" b="0" dirty="0" smtClean="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algn="l" latinLnBrk="1">
                        <a:spcAft>
                          <a:spcPts val="200"/>
                        </a:spcAft>
                      </a:pPr>
                      <a:r>
                        <a:rPr sz="1050" b="0">
                          <a:solidFill>
                            <a:srgbClr val="1A1A1A"/>
                          </a:solidFill>
                          <a:latin typeface="맑은 고딕"/>
                        </a:rPr>
                        <a:t>2. 운영시간·휴무가 확인되지 않은 장소는 "운영시간 확인 필요"로 표시합니다.</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algn="l" latinLnBrk="1">
                        <a:spcAft>
                          <a:spcPts val="200"/>
                        </a:spcAft>
                      </a:pPr>
                      <a:r>
                        <a:rPr sz="1050" b="0">
                          <a:solidFill>
                            <a:srgbClr val="1A1A1A"/>
                          </a:solidFill>
                          <a:latin typeface="맑은 고딕"/>
                        </a:rPr>
                        <a:t>3. 축제는 개최기간과 방문일을 대조해 목록을 구성합니다.</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algn="l" latinLnBrk="1">
                        <a:spcAft>
                          <a:spcPts val="200"/>
                        </a:spcAft>
                      </a:pPr>
                      <a:r>
                        <a:rPr sz="1050" b="0">
                          <a:solidFill>
                            <a:srgbClr val="1A1A1A"/>
                          </a:solidFill>
                          <a:latin typeface="맑은 고딕"/>
                        </a:rPr>
                        <a:t>4. 체류시간과 이동 추정치를 검사해 하루 일정의 겹침을 조정합니다.</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15" name="표 14"/>
          <p:cNvGraphicFramePr>
            <a:graphicFrameLocks noGrp="1"/>
          </p:cNvGraphicFramePr>
          <p:nvPr>
            <p:extLst>
              <p:ext uri="{D42A27DB-BD31-4B8C-83A1-F6EECF244321}">
                <p14:modId xmlns:p14="http://schemas.microsoft.com/office/powerpoint/2010/main" val="2744280268"/>
              </p:ext>
            </p:extLst>
          </p:nvPr>
        </p:nvGraphicFramePr>
        <p:xfrm>
          <a:off x="302952" y="1130530"/>
          <a:ext cx="11426308" cy="73152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236913">
                <a:tc>
                  <a:txBody>
                    <a:bodyPr wrap="square"/>
                    <a:lstStyle/>
                    <a:p>
                      <a:pPr algn="ctr" latinLnBrk="1">
                        <a:spcAft>
                          <a:spcPts val="400"/>
                        </a:spcAft>
                      </a:pPr>
                      <a:r>
                        <a:rPr sz="1200" b="1">
                          <a:solidFill>
                            <a:srgbClr val="1A1A1A"/>
                          </a:solidFill>
                          <a:latin typeface="맑은 고딕"/>
                        </a:rPr>
                        <a:t>핵심 기능2</a:t>
                      </a:r>
                      <a:endParaRPr lang="ko-KR" altLang="en-US" b="1" dirty="0">
                        <a:solidFill>
                          <a:schemeClr val="bg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wrap="square"/>
                    <a:lstStyle/>
                    <a:p>
                      <a:pPr latinLnBrk="1" algn="l">
                        <a:spcAft>
                          <a:spcPts val="400"/>
                        </a:spcAft>
                      </a:pPr>
                      <a:r>
                        <a:rPr sz="1200" b="1">
                          <a:solidFill>
                            <a:srgbClr val="1A1A1A"/>
                          </a:solidFill>
                          <a:latin typeface="맑은 고딕"/>
                        </a:rPr>
                        <a:t>방문일·원본·시간표 검증</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236913">
                <a:tc>
                  <a:txBody>
                    <a:bodyPr/>
                    <a:lstStyle/>
                    <a:p>
                      <a:pPr algn="ctr" latinLnBrk="1"/>
                      <a:r>
                        <a:rPr lang="ko-KR" altLang="en-US" b="1" dirty="0" smtClean="0">
                          <a:solidFill>
                            <a:schemeClr val="bg1"/>
                          </a:solidFill>
                        </a:rPr>
                        <a:t>기능 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050" b="0">
                          <a:solidFill>
                            <a:srgbClr val="1A1A1A"/>
                          </a:solidFill>
                          <a:latin typeface="맑은 고딕"/>
                        </a:rPr>
                        <a:t>관광 원본 목록의 contentId만 허용해 제목·좌표·이미지·유형을 원본으로 복원합니다. 방문 날짜와 축제 개최기간, 파싱 가능한 정기 휴무와 운영시간을 대조하며, 확인되지 않은 휴무를 영업 중으로 단정하지 않고 "확인 필요"로 표시합니다. 체류시간과 이동 추정치를 검사해 일정 겹침을 같은 날짜 안에서 조정하고, 보완한 장소와 그 이유를 함께 보여줍니다.</a:t>
                      </a:r>
                      <a:endParaRPr lang="ko-KR" altLang="en-US" b="0" dirty="0" smtClean="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pic>
        <p:nvPicPr>
          <p:cNvPr id="16" name="Picture 15" descr="when.png"/>
          <p:cNvPicPr>
            <a:picLocks noChangeAspect="1"/>
          </p:cNvPicPr>
          <p:nvPr/>
        </p:nvPicPr>
        <p:blipFill>
          <a:blip r:embed="rId2"/>
          <a:stretch>
            <a:fillRect/>
          </a:stretch>
        </p:blipFill>
        <p:spPr>
          <a:xfrm>
            <a:off x="339528" y="2297047"/>
            <a:ext cx="2783425" cy="1305343"/>
          </a:xfrm>
          <a:prstGeom prst="rect">
            <a:avLst/>
          </a:prstGeom>
        </p:spPr>
      </p:pic>
      <p:pic>
        <p:nvPicPr>
          <p:cNvPr id="17" name="Picture 16" descr="result.png"/>
          <p:cNvPicPr>
            <a:picLocks noChangeAspect="1"/>
          </p:cNvPicPr>
          <p:nvPr/>
        </p:nvPicPr>
        <p:blipFill>
          <a:blip r:embed="rId3"/>
          <a:stretch>
            <a:fillRect/>
          </a:stretch>
        </p:blipFill>
        <p:spPr>
          <a:xfrm>
            <a:off x="3196104" y="2297047"/>
            <a:ext cx="2783425" cy="2316249"/>
          </a:xfrm>
          <a:prstGeom prst="rect">
            <a:avLst/>
          </a:prstGeom>
        </p:spPr>
      </p:pic>
      <p:pic>
        <p:nvPicPr>
          <p:cNvPr id="18" name="Picture 17" descr="festival.png"/>
          <p:cNvPicPr>
            <a:picLocks noChangeAspect="1"/>
          </p:cNvPicPr>
          <p:nvPr/>
        </p:nvPicPr>
        <p:blipFill>
          <a:blip r:embed="rId4"/>
          <a:stretch>
            <a:fillRect/>
          </a:stretch>
        </p:blipFill>
        <p:spPr>
          <a:xfrm>
            <a:off x="6052681" y="2297047"/>
            <a:ext cx="2783425" cy="2512541"/>
          </a:xfrm>
          <a:prstGeom prst="rect">
            <a:avLst/>
          </a:prstGeom>
        </p:spPr>
      </p:pic>
      <p:pic>
        <p:nvPicPr>
          <p:cNvPr id="19" name="Picture 18" descr="share.png"/>
          <p:cNvPicPr>
            <a:picLocks noChangeAspect="1"/>
          </p:cNvPicPr>
          <p:nvPr/>
        </p:nvPicPr>
        <p:blipFill>
          <a:blip r:embed="rId5"/>
          <a:stretch>
            <a:fillRect/>
          </a:stretch>
        </p:blipFill>
        <p:spPr>
          <a:xfrm>
            <a:off x="8909259" y="2297047"/>
            <a:ext cx="2783425" cy="1334787"/>
          </a:xfrm>
          <a:prstGeom prst="rect">
            <a:avLst/>
          </a:prstGeom>
        </p:spPr>
      </p:pic>
    </p:spTree>
    <p:extLst>
      <p:ext uri="{BB962C8B-B14F-4D97-AF65-F5344CB8AC3E}">
        <p14:creationId xmlns:p14="http://schemas.microsoft.com/office/powerpoint/2010/main" val="67194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표 7"/>
          <p:cNvGraphicFramePr>
            <a:graphicFrameLocks noGrp="1"/>
          </p:cNvGraphicFramePr>
          <p:nvPr>
            <p:extLst>
              <p:ext uri="{D42A27DB-BD31-4B8C-83A1-F6EECF244321}">
                <p14:modId xmlns:p14="http://schemas.microsoft.com/office/powerpoint/2010/main" val="2957004574"/>
              </p:ext>
            </p:extLst>
          </p:nvPr>
        </p:nvGraphicFramePr>
        <p:xfrm>
          <a:off x="302952" y="1933326"/>
          <a:ext cx="11426308" cy="4605842"/>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7145">
                <a:tc gridSpan="4">
                  <a:txBody>
                    <a:bodyPr/>
                    <a:lstStyle/>
                    <a:p>
                      <a:pPr algn="ctr" latinLnBrk="1"/>
                      <a:r>
                        <a:rPr lang="ko-KR" altLang="en-US" dirty="0" smtClean="0">
                          <a:solidFill>
                            <a:schemeClr val="bg1"/>
                          </a:solidFill>
                        </a:rPr>
                        <a:t>기능</a:t>
                      </a:r>
                      <a:r>
                        <a:rPr lang="ko-KR" altLang="en-US" baseline="0" dirty="0" smtClean="0">
                          <a:solidFill>
                            <a:schemeClr val="bg1"/>
                          </a:solidFill>
                        </a:rPr>
                        <a:t> </a:t>
                      </a:r>
                      <a:r>
                        <a:rPr lang="ko-KR" altLang="en-US" dirty="0" smtClean="0">
                          <a:solidFill>
                            <a:schemeClr val="bg1"/>
                          </a:solidFill>
                        </a:rPr>
                        <a:t>흐름도</a:t>
                      </a:r>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806208">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000" b="0">
                          <a:solidFill>
                            <a:srgbClr val="1A1A1A"/>
                          </a:solidFill>
                          <a:latin typeface="맑은 고딕"/>
                        </a:rPr>
                        <a:t/>
                      </a:r>
                      <a:endParaRPr lang="en-US" altLang="ko-KR" sz="1800" b="0" dirty="0" smtClean="0">
                        <a:solidFill>
                          <a:srgbClr val="FF0000"/>
                        </a:solidFill>
                        <a:latin typeface="+mn-lt"/>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000" b="0">
                          <a:solidFill>
                            <a:srgbClr val="1A1A1A"/>
                          </a:solidFill>
                          <a:latin typeface="맑은 고딕"/>
                        </a:rPr>
                        <a:t/>
                      </a:r>
                      <a:endParaRPr lang="ko-KR" altLang="en-US" b="0" dirty="0" smtClean="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000" b="0">
                          <a:solidFill>
                            <a:srgbClr val="1A1A1A"/>
                          </a:solidFill>
                          <a:latin typeface="맑은 고딕"/>
                        </a:rPr>
                        <a:t/>
                      </a:r>
                      <a:endParaRPr lang="ko-KR" altLang="en-US" b="0" dirty="0" smtClean="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000" b="0">
                          <a:solidFill>
                            <a:srgbClr val="1A1A1A"/>
                          </a:solidFill>
                          <a:latin typeface="맑은 고딕"/>
                        </a:rPr>
                        <a:t/>
                      </a:r>
                      <a:endParaRPr lang="ko-KR" altLang="en-US" b="0" dirty="0" smtClean="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433874">
                <a:tc>
                  <a:txBody>
                    <a:bodyPr wrap="square"/>
                    <a:lstStyle/>
                    <a:p>
                      <a:pPr marL="0" marR="0" lvl="0" indent="0" algn="l" defTabSz="914400" rtl="0" eaLnBrk="1" fontAlgn="auto" latinLnBrk="1" hangingPunct="1">
                        <a:lnSpc>
                          <a:spcPct val="100000"/>
                        </a:lnSpc>
                        <a:spcBef>
                          <a:spcPts val="0"/>
                        </a:spcBef>
                        <a:spcAft>
                          <a:spcPts val="200"/>
                        </a:spcAft>
                        <a:buClrTx/>
                        <a:buSzTx/>
                        <a:buFontTx/>
                        <a:buNone/>
                        <a:tabLst/>
                        <a:defRPr/>
                      </a:pPr>
                      <a:r>
                        <a:rPr sz="1050" b="0">
                          <a:solidFill>
                            <a:srgbClr val="1A1A1A"/>
                          </a:solidFill>
                          <a:latin typeface="맑은 고딕"/>
                        </a:rPr>
                        <a:t>1. 취향 선택 단계에서 접근성 항목은 선택 사항으로 접혀 있습니다.</a:t>
                      </a:r>
                      <a:endParaRPr lang="en-US" altLang="ko-KR" b="0" dirty="0" smtClean="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algn="l" latinLnBrk="1">
                        <a:spcAft>
                          <a:spcPts val="200"/>
                        </a:spcAft>
                      </a:pPr>
                      <a:r>
                        <a:rPr sz="1050" b="0">
                          <a:solidFill>
                            <a:srgbClr val="1A1A1A"/>
                          </a:solidFill>
                          <a:latin typeface="맑은 고딕"/>
                        </a:rPr>
                        <a:t>2. 휠체어·보행 불편, 시각장애, 청각장애, 영유아 동반 조건을 고릅니다.</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algn="l" latinLnBrk="1">
                        <a:spcAft>
                          <a:spcPts val="200"/>
                        </a:spcAft>
                      </a:pPr>
                      <a:r>
                        <a:rPr sz="1050" b="0">
                          <a:solidFill>
                            <a:srgbClr val="1A1A1A"/>
                          </a:solidFill>
                          <a:latin typeface="맑은 고딕"/>
                        </a:rPr>
                        <a:t>3. 조건에 관한 원문이 있는 후보를 우선해 코스를 구성합니다.</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algn="l" latinLnBrk="1">
                        <a:spcAft>
                          <a:spcPts val="400"/>
                        </a:spcAft>
                      </a:pPr>
                      <a:r>
                        <a:rPr sz="1000" b="0">
                          <a:solidFill>
                            <a:srgbClr val="1A1A1A"/>
                          </a:solidFill>
                          <a:latin typeface="맑은 고딕"/>
                        </a:rPr>
                        <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15" name="표 14"/>
          <p:cNvGraphicFramePr>
            <a:graphicFrameLocks noGrp="1"/>
          </p:cNvGraphicFramePr>
          <p:nvPr>
            <p:extLst>
              <p:ext uri="{D42A27DB-BD31-4B8C-83A1-F6EECF244321}">
                <p14:modId xmlns:p14="http://schemas.microsoft.com/office/powerpoint/2010/main" val="2744280268"/>
              </p:ext>
            </p:extLst>
          </p:nvPr>
        </p:nvGraphicFramePr>
        <p:xfrm>
          <a:off x="302952" y="1130530"/>
          <a:ext cx="11426308" cy="73152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236913">
                <a:tc>
                  <a:txBody>
                    <a:bodyPr wrap="square"/>
                    <a:lstStyle/>
                    <a:p>
                      <a:pPr algn="ctr" latinLnBrk="1">
                        <a:spcAft>
                          <a:spcPts val="400"/>
                        </a:spcAft>
                      </a:pPr>
                      <a:r>
                        <a:rPr sz="1200" b="1">
                          <a:solidFill>
                            <a:srgbClr val="1A1A1A"/>
                          </a:solidFill>
                          <a:latin typeface="맑은 고딕"/>
                        </a:rPr>
                        <a:t>핵심 기능3</a:t>
                      </a:r>
                      <a:endParaRPr lang="ko-KR" altLang="en-US" b="1" dirty="0">
                        <a:solidFill>
                          <a:schemeClr val="bg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wrap="square"/>
                    <a:lstStyle/>
                    <a:p>
                      <a:pPr latinLnBrk="1" algn="l">
                        <a:spcAft>
                          <a:spcPts val="400"/>
                        </a:spcAft>
                      </a:pPr>
                      <a:r>
                        <a:rPr sz="1200" b="1">
                          <a:solidFill>
                            <a:srgbClr val="1A1A1A"/>
                          </a:solidFill>
                          <a:latin typeface="맑은 고딕"/>
                        </a:rPr>
                        <a:t>접근성 정보 기반 후보 우선순위</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236913">
                <a:tc>
                  <a:txBody>
                    <a:bodyPr/>
                    <a:lstStyle/>
                    <a:p>
                      <a:pPr algn="ctr" latinLnBrk="1"/>
                      <a:r>
                        <a:rPr lang="ko-KR" altLang="en-US" b="1" dirty="0" smtClean="0">
                          <a:solidFill>
                            <a:schemeClr val="bg1"/>
                          </a:solidFill>
                        </a:rPr>
                        <a:t>기능 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050" b="0">
                          <a:solidFill>
                            <a:srgbClr val="1A1A1A"/>
                          </a:solidFill>
                          <a:latin typeface="맑은 고딕"/>
                        </a:rPr>
                        <a:t>접근성 조건을 선택하면 별도 관광 API 상품인 KorWithService2 / detailWithTour2를 조회합니다. 선택한 조건에 관한 원문이 있는 후보를 우선 배치하고 결과 화면에 해당 정보를 보여줍니다. 정보가 없다는 이유만으로 이용 불가라고 단정하지 않으며, 미확인 후보도 남겨 그 상태를 표시합니다. 데이터의 존재가 이용 가능 보장은 아니므로 현장 확인과 전화 확인을 함께 안내합니다.</a:t>
                      </a:r>
                      <a:endParaRPr lang="ko-KR" altLang="en-US" b="0" dirty="0" smtClean="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pic>
        <p:nvPicPr>
          <p:cNvPr id="16" name="Picture 15" descr="taste.png"/>
          <p:cNvPicPr>
            <a:picLocks noChangeAspect="1"/>
          </p:cNvPicPr>
          <p:nvPr/>
        </p:nvPicPr>
        <p:blipFill>
          <a:blip r:embed="rId2"/>
          <a:stretch>
            <a:fillRect/>
          </a:stretch>
        </p:blipFill>
        <p:spPr>
          <a:xfrm>
            <a:off x="339528" y="2297047"/>
            <a:ext cx="2783425" cy="1246456"/>
          </a:xfrm>
          <a:prstGeom prst="rect">
            <a:avLst/>
          </a:prstGeom>
        </p:spPr>
      </p:pic>
      <p:pic>
        <p:nvPicPr>
          <p:cNvPr id="17" name="Picture 16" descr="access.png"/>
          <p:cNvPicPr>
            <a:picLocks noChangeAspect="1"/>
          </p:cNvPicPr>
          <p:nvPr/>
        </p:nvPicPr>
        <p:blipFill>
          <a:blip r:embed="rId3"/>
          <a:stretch>
            <a:fillRect/>
          </a:stretch>
        </p:blipFill>
        <p:spPr>
          <a:xfrm>
            <a:off x="3196104" y="2297047"/>
            <a:ext cx="2783425" cy="1438822"/>
          </a:xfrm>
          <a:prstGeom prst="rect">
            <a:avLst/>
          </a:prstGeom>
        </p:spPr>
      </p:pic>
      <p:pic>
        <p:nvPicPr>
          <p:cNvPr id="18" name="Picture 17" descr="result.png"/>
          <p:cNvPicPr>
            <a:picLocks noChangeAspect="1"/>
          </p:cNvPicPr>
          <p:nvPr/>
        </p:nvPicPr>
        <p:blipFill>
          <a:blip r:embed="rId4"/>
          <a:stretch>
            <a:fillRect/>
          </a:stretch>
        </p:blipFill>
        <p:spPr>
          <a:xfrm>
            <a:off x="6052681" y="2297047"/>
            <a:ext cx="2783425" cy="2316249"/>
          </a:xfrm>
          <a:prstGeom prst="rect">
            <a:avLst/>
          </a:prstGeom>
        </p:spPr>
      </p:pic>
    </p:spTree>
    <p:extLst>
      <p:ext uri="{BB962C8B-B14F-4D97-AF65-F5344CB8AC3E}">
        <p14:creationId xmlns:p14="http://schemas.microsoft.com/office/powerpoint/2010/main" val="67194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표 7"/>
          <p:cNvGraphicFramePr>
            <a:graphicFrameLocks noGrp="1"/>
          </p:cNvGraphicFramePr>
          <p:nvPr>
            <p:extLst>
              <p:ext uri="{D42A27DB-BD31-4B8C-83A1-F6EECF244321}">
                <p14:modId xmlns:p14="http://schemas.microsoft.com/office/powerpoint/2010/main" val="2957004574"/>
              </p:ext>
            </p:extLst>
          </p:nvPr>
        </p:nvGraphicFramePr>
        <p:xfrm>
          <a:off x="302952" y="1933326"/>
          <a:ext cx="11426308" cy="4605842"/>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7145">
                <a:tc gridSpan="4">
                  <a:txBody>
                    <a:bodyPr/>
                    <a:lstStyle/>
                    <a:p>
                      <a:pPr algn="ctr" latinLnBrk="1"/>
                      <a:r>
                        <a:rPr lang="ko-KR" altLang="en-US" dirty="0" smtClean="0">
                          <a:solidFill>
                            <a:schemeClr val="bg1"/>
                          </a:solidFill>
                        </a:rPr>
                        <a:t>기능</a:t>
                      </a:r>
                      <a:r>
                        <a:rPr lang="ko-KR" altLang="en-US" baseline="0" dirty="0" smtClean="0">
                          <a:solidFill>
                            <a:schemeClr val="bg1"/>
                          </a:solidFill>
                        </a:rPr>
                        <a:t> </a:t>
                      </a:r>
                      <a:r>
                        <a:rPr lang="ko-KR" altLang="en-US" dirty="0" smtClean="0">
                          <a:solidFill>
                            <a:schemeClr val="bg1"/>
                          </a:solidFill>
                        </a:rPr>
                        <a:t>흐름도</a:t>
                      </a:r>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806208">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000" b="0">
                          <a:solidFill>
                            <a:srgbClr val="1A1A1A"/>
                          </a:solidFill>
                          <a:latin typeface="맑은 고딕"/>
                        </a:rPr>
                        <a:t/>
                      </a:r>
                      <a:endParaRPr lang="en-US" altLang="ko-KR" sz="1800" b="0" dirty="0" smtClean="0">
                        <a:solidFill>
                          <a:srgbClr val="FF0000"/>
                        </a:solidFill>
                        <a:latin typeface="+mn-lt"/>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000" b="0">
                          <a:solidFill>
                            <a:srgbClr val="1A1A1A"/>
                          </a:solidFill>
                          <a:latin typeface="맑은 고딕"/>
                        </a:rPr>
                        <a:t/>
                      </a:r>
                      <a:endParaRPr lang="ko-KR" altLang="en-US" b="0" dirty="0" smtClean="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000" b="0">
                          <a:solidFill>
                            <a:srgbClr val="1A1A1A"/>
                          </a:solidFill>
                          <a:latin typeface="맑은 고딕"/>
                        </a:rPr>
                        <a:t/>
                      </a:r>
                      <a:endParaRPr lang="ko-KR" altLang="en-US" b="0" dirty="0" smtClean="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000" b="0">
                          <a:solidFill>
                            <a:srgbClr val="1A1A1A"/>
                          </a:solidFill>
                          <a:latin typeface="맑은 고딕"/>
                        </a:rPr>
                        <a:t/>
                      </a:r>
                      <a:endParaRPr lang="ko-KR" altLang="en-US" b="0" dirty="0" smtClean="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433874">
                <a:tc>
                  <a:txBody>
                    <a:bodyPr wrap="square"/>
                    <a:lstStyle/>
                    <a:p>
                      <a:pPr marL="0" marR="0" lvl="0" indent="0" algn="l" defTabSz="914400" rtl="0" eaLnBrk="1" fontAlgn="auto" latinLnBrk="1" hangingPunct="1">
                        <a:lnSpc>
                          <a:spcPct val="100000"/>
                        </a:lnSpc>
                        <a:spcBef>
                          <a:spcPts val="0"/>
                        </a:spcBef>
                        <a:spcAft>
                          <a:spcPts val="200"/>
                        </a:spcAft>
                        <a:buClrTx/>
                        <a:buSzTx/>
                        <a:buFontTx/>
                        <a:buNone/>
                        <a:tabLst/>
                        <a:defRPr/>
                      </a:pPr>
                      <a:r>
                        <a:rPr sz="1050" b="0">
                          <a:solidFill>
                            <a:srgbClr val="1A1A1A"/>
                          </a:solidFill>
                          <a:latin typeface="맑은 고딕"/>
                        </a:rPr>
                        <a:t>1. 2단계에서 선택 기능으로 안내하며 건너뛸 수 있습니다.</a:t>
                      </a:r>
                      <a:endParaRPr lang="en-US" altLang="ko-KR" b="0" dirty="0" smtClean="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algn="l" latinLnBrk="1">
                        <a:spcAft>
                          <a:spcPts val="200"/>
                        </a:spcAft>
                      </a:pPr>
                      <a:r>
                        <a:rPr sz="1050" b="0">
                          <a:solidFill>
                            <a:srgbClr val="1A1A1A"/>
                          </a:solidFill>
                          <a:latin typeface="맑은 고딕"/>
                        </a:rPr>
                        <a:t>2. 여행일 기준 오행과 테마 문구를 보여줍니다.</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algn="l" latinLnBrk="1">
                        <a:spcAft>
                          <a:spcPts val="200"/>
                        </a:spcAft>
                      </a:pPr>
                      <a:r>
                        <a:rPr sz="1050" b="0">
                          <a:solidFill>
                            <a:srgbClr val="1A1A1A"/>
                          </a:solidFill>
                          <a:latin typeface="맑은 고딕"/>
                        </a:rPr>
                        <a:t>3. 코스 결과에 테마와 적용 여부를 함께 표시합니다.</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algn="l" latinLnBrk="1">
                        <a:spcAft>
                          <a:spcPts val="200"/>
                        </a:spcAft>
                      </a:pPr>
                      <a:r>
                        <a:rPr sz="1050" b="0">
                          <a:solidFill>
                            <a:srgbClr val="1A1A1A"/>
                          </a:solidFill>
                          <a:latin typeface="맑은 고딕"/>
                        </a:rPr>
                        <a:t>4. 모바일에서도 같은 테마 정보를 확인할 수 있습니다.</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15" name="표 14"/>
          <p:cNvGraphicFramePr>
            <a:graphicFrameLocks noGrp="1"/>
          </p:cNvGraphicFramePr>
          <p:nvPr>
            <p:extLst>
              <p:ext uri="{D42A27DB-BD31-4B8C-83A1-F6EECF244321}">
                <p14:modId xmlns:p14="http://schemas.microsoft.com/office/powerpoint/2010/main" val="2744280268"/>
              </p:ext>
            </p:extLst>
          </p:nvPr>
        </p:nvGraphicFramePr>
        <p:xfrm>
          <a:off x="302952" y="1130530"/>
          <a:ext cx="11426308" cy="73152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236913">
                <a:tc>
                  <a:txBody>
                    <a:bodyPr wrap="square"/>
                    <a:lstStyle/>
                    <a:p>
                      <a:pPr algn="ctr" latinLnBrk="1">
                        <a:spcAft>
                          <a:spcPts val="400"/>
                        </a:spcAft>
                      </a:pPr>
                      <a:r>
                        <a:rPr sz="1200" b="1">
                          <a:solidFill>
                            <a:srgbClr val="1A1A1A"/>
                          </a:solidFill>
                          <a:latin typeface="맑은 고딕"/>
                        </a:rPr>
                        <a:t>핵심 기능4</a:t>
                      </a:r>
                      <a:endParaRPr lang="ko-KR" altLang="en-US" b="1" dirty="0">
                        <a:solidFill>
                          <a:schemeClr val="bg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wrap="square"/>
                    <a:lstStyle/>
                    <a:p>
                      <a:pPr latinLnBrk="1" algn="l">
                        <a:spcAft>
                          <a:spcPts val="400"/>
                        </a:spcAft>
                      </a:pPr>
                      <a:r>
                        <a:rPr sz="1200" b="1">
                          <a:solidFill>
                            <a:srgbClr val="1A1A1A"/>
                          </a:solidFill>
                          <a:latin typeface="맑은 고딕"/>
                        </a:rPr>
                        <a:t>여행일 오행 테마 (선택 기능)</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236913">
                <a:tc>
                  <a:txBody>
                    <a:bodyPr/>
                    <a:lstStyle/>
                    <a:p>
                      <a:pPr algn="ctr" latinLnBrk="1"/>
                      <a:r>
                        <a:rPr lang="ko-KR" altLang="en-US" b="1" dirty="0" smtClean="0">
                          <a:solidFill>
                            <a:schemeClr val="bg1"/>
                          </a:solidFill>
                        </a:rPr>
                        <a:t>기능 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050" b="0">
                          <a:solidFill>
                            <a:srgbClr val="1A1A1A"/>
                          </a:solidFill>
                          <a:latin typeface="맑은 고딕"/>
                        </a:rPr>
                        <a:t>생년과 여행 시작일에서 얻은 오행을 여행의 발견과 설명에 쓰는 문화적·오락적 장치로 제공합니다. 이용자가 직접 고른 기분·취향·동행 조건을 바꾸지 않으며, 같은 조건에서 비슷한 후보 사이의 순위에 최대 5점 수준의 작은 가산점으로만 반영됩니다. 정밀 사주풀이·미래 예측·건강 효과를 제공하지 않으며, 테마를 선택하지 않아도 핵심 코스 생성 기능을 그대로 사용할 수 있습니다.</a:t>
                      </a:r>
                      <a:endParaRPr lang="ko-KR" altLang="en-US" b="0" dirty="0" smtClean="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pic>
        <p:nvPicPr>
          <p:cNvPr id="16" name="Picture 15" descr="sajuOff.png"/>
          <p:cNvPicPr>
            <a:picLocks noChangeAspect="1"/>
          </p:cNvPicPr>
          <p:nvPr/>
        </p:nvPicPr>
        <p:blipFill>
          <a:blip r:embed="rId2"/>
          <a:stretch>
            <a:fillRect/>
          </a:stretch>
        </p:blipFill>
        <p:spPr>
          <a:xfrm>
            <a:off x="339528" y="2297047"/>
            <a:ext cx="2783425" cy="952017"/>
          </a:xfrm>
          <a:prstGeom prst="rect">
            <a:avLst/>
          </a:prstGeom>
        </p:spPr>
      </p:pic>
      <p:pic>
        <p:nvPicPr>
          <p:cNvPr id="17" name="Picture 16" descr="sajuOn.png"/>
          <p:cNvPicPr>
            <a:picLocks noChangeAspect="1"/>
          </p:cNvPicPr>
          <p:nvPr/>
        </p:nvPicPr>
        <p:blipFill>
          <a:blip r:embed="rId3"/>
          <a:stretch>
            <a:fillRect/>
          </a:stretch>
        </p:blipFill>
        <p:spPr>
          <a:xfrm>
            <a:off x="3196104" y="2297047"/>
            <a:ext cx="2783425" cy="1254307"/>
          </a:xfrm>
          <a:prstGeom prst="rect">
            <a:avLst/>
          </a:prstGeom>
        </p:spPr>
      </p:pic>
      <p:pic>
        <p:nvPicPr>
          <p:cNvPr id="18" name="Picture 17" descr="result.png"/>
          <p:cNvPicPr>
            <a:picLocks noChangeAspect="1"/>
          </p:cNvPicPr>
          <p:nvPr/>
        </p:nvPicPr>
        <p:blipFill>
          <a:blip r:embed="rId4"/>
          <a:stretch>
            <a:fillRect/>
          </a:stretch>
        </p:blipFill>
        <p:spPr>
          <a:xfrm>
            <a:off x="6052681" y="2297047"/>
            <a:ext cx="2783425" cy="2316249"/>
          </a:xfrm>
          <a:prstGeom prst="rect">
            <a:avLst/>
          </a:prstGeom>
        </p:spPr>
      </p:pic>
      <p:pic>
        <p:nvPicPr>
          <p:cNvPr id="19" name="Picture 18" descr="mobile.png"/>
          <p:cNvPicPr>
            <a:picLocks noChangeAspect="1"/>
          </p:cNvPicPr>
          <p:nvPr/>
        </p:nvPicPr>
        <p:blipFill>
          <a:blip r:embed="rId5"/>
          <a:stretch>
            <a:fillRect/>
          </a:stretch>
        </p:blipFill>
        <p:spPr>
          <a:xfrm>
            <a:off x="9689357" y="2297047"/>
            <a:ext cx="1223227" cy="2733056"/>
          </a:xfrm>
          <a:prstGeom prst="rect">
            <a:avLst/>
          </a:prstGeom>
        </p:spPr>
      </p:pic>
    </p:spTree>
    <p:extLst>
      <p:ext uri="{BB962C8B-B14F-4D97-AF65-F5344CB8AC3E}">
        <p14:creationId xmlns:p14="http://schemas.microsoft.com/office/powerpoint/2010/main" val="671940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표 7"/>
          <p:cNvGraphicFramePr>
            <a:graphicFrameLocks noGrp="1"/>
          </p:cNvGraphicFramePr>
          <p:nvPr>
            <p:extLst>
              <p:ext uri="{D42A27DB-BD31-4B8C-83A1-F6EECF244321}">
                <p14:modId xmlns:p14="http://schemas.microsoft.com/office/powerpoint/2010/main" val="2957004574"/>
              </p:ext>
            </p:extLst>
          </p:nvPr>
        </p:nvGraphicFramePr>
        <p:xfrm>
          <a:off x="302952" y="1933326"/>
          <a:ext cx="11426308" cy="4605842"/>
        </p:xfrm>
        <a:graphic>
          <a:graphicData uri="http://schemas.openxmlformats.org/drawingml/2006/table">
            <a:tbl>
              <a:tblPr firstRow="1" bandRow="1">
                <a:tableStyleId>{5C22544A-7EE6-4342-B048-85BDC9FD1C3A}</a:tableStyleId>
              </a:tblPr>
              <a:tblGrid>
                <a:gridCol w="2856577">
                  <a:extLst>
                    <a:ext uri="{9D8B030D-6E8A-4147-A177-3AD203B41FA5}">
                      <a16:colId xmlns:a16="http://schemas.microsoft.com/office/drawing/2014/main" val="956832101"/>
                    </a:ext>
                  </a:extLst>
                </a:gridCol>
                <a:gridCol w="2856577">
                  <a:extLst>
                    <a:ext uri="{9D8B030D-6E8A-4147-A177-3AD203B41FA5}">
                      <a16:colId xmlns:a16="http://schemas.microsoft.com/office/drawing/2014/main" val="2325135401"/>
                    </a:ext>
                  </a:extLst>
                </a:gridCol>
                <a:gridCol w="2856577">
                  <a:extLst>
                    <a:ext uri="{9D8B030D-6E8A-4147-A177-3AD203B41FA5}">
                      <a16:colId xmlns:a16="http://schemas.microsoft.com/office/drawing/2014/main" val="1669866357"/>
                    </a:ext>
                  </a:extLst>
                </a:gridCol>
                <a:gridCol w="2856577">
                  <a:extLst>
                    <a:ext uri="{9D8B030D-6E8A-4147-A177-3AD203B41FA5}">
                      <a16:colId xmlns:a16="http://schemas.microsoft.com/office/drawing/2014/main" val="1337599892"/>
                    </a:ext>
                  </a:extLst>
                </a:gridCol>
              </a:tblGrid>
              <a:tr h="327145">
                <a:tc gridSpan="4">
                  <a:txBody>
                    <a:bodyPr/>
                    <a:lstStyle/>
                    <a:p>
                      <a:pPr algn="ctr" latinLnBrk="1"/>
                      <a:r>
                        <a:rPr lang="ko-KR" altLang="en-US" dirty="0" smtClean="0">
                          <a:solidFill>
                            <a:schemeClr val="bg1"/>
                          </a:solidFill>
                        </a:rPr>
                        <a:t>기능</a:t>
                      </a:r>
                      <a:r>
                        <a:rPr lang="ko-KR" altLang="en-US" baseline="0" dirty="0" smtClean="0">
                          <a:solidFill>
                            <a:schemeClr val="bg1"/>
                          </a:solidFill>
                        </a:rPr>
                        <a:t> </a:t>
                      </a:r>
                      <a:r>
                        <a:rPr lang="ko-KR" altLang="en-US" dirty="0" smtClean="0">
                          <a:solidFill>
                            <a:schemeClr val="bg1"/>
                          </a:solidFill>
                        </a:rPr>
                        <a:t>흐름도</a:t>
                      </a:r>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hMerge="1">
                  <a:txBody>
                    <a:bodyPr/>
                    <a:lstStyle/>
                    <a:p>
                      <a:pPr algn="ctr" latinLnBrk="1"/>
                      <a:endParaRPr lang="ko-KR" altLang="en-US"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extLst>
                  <a:ext uri="{0D108BD9-81ED-4DB2-BD59-A6C34878D82A}">
                    <a16:rowId xmlns:a16="http://schemas.microsoft.com/office/drawing/2014/main" val="1032358826"/>
                  </a:ext>
                </a:extLst>
              </a:tr>
              <a:tr h="2806208">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000" b="0">
                          <a:solidFill>
                            <a:srgbClr val="1A1A1A"/>
                          </a:solidFill>
                          <a:latin typeface="맑은 고딕"/>
                        </a:rPr>
                        <a:t/>
                      </a:r>
                      <a:endParaRPr lang="en-US" altLang="ko-KR" sz="1800" b="0" dirty="0" smtClean="0">
                        <a:solidFill>
                          <a:srgbClr val="FF0000"/>
                        </a:solidFill>
                        <a:latin typeface="+mn-lt"/>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000" b="0">
                          <a:solidFill>
                            <a:srgbClr val="1A1A1A"/>
                          </a:solidFill>
                          <a:latin typeface="맑은 고딕"/>
                        </a:rPr>
                        <a:t/>
                      </a:r>
                      <a:endParaRPr lang="ko-KR" altLang="en-US" b="0" dirty="0" smtClean="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000" b="0">
                          <a:solidFill>
                            <a:srgbClr val="1A1A1A"/>
                          </a:solidFill>
                          <a:latin typeface="맑은 고딕"/>
                        </a:rPr>
                        <a:t/>
                      </a:r>
                      <a:endParaRPr lang="ko-KR" altLang="en-US" b="0" dirty="0" smtClean="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000" b="0">
                          <a:solidFill>
                            <a:srgbClr val="1A1A1A"/>
                          </a:solidFill>
                          <a:latin typeface="맑은 고딕"/>
                        </a:rPr>
                        <a:t/>
                      </a:r>
                      <a:endParaRPr lang="ko-KR" altLang="en-US" b="0" dirty="0" smtClean="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57600838"/>
                  </a:ext>
                </a:extLst>
              </a:tr>
              <a:tr h="1433874">
                <a:tc>
                  <a:txBody>
                    <a:bodyPr wrap="square"/>
                    <a:lstStyle/>
                    <a:p>
                      <a:pPr marL="0" marR="0" lvl="0" indent="0" algn="l" defTabSz="914400" rtl="0" eaLnBrk="1" fontAlgn="auto" latinLnBrk="1" hangingPunct="1">
                        <a:lnSpc>
                          <a:spcPct val="100000"/>
                        </a:lnSpc>
                        <a:spcBef>
                          <a:spcPts val="0"/>
                        </a:spcBef>
                        <a:spcAft>
                          <a:spcPts val="200"/>
                        </a:spcAft>
                        <a:buClrTx/>
                        <a:buSzTx/>
                        <a:buFontTx/>
                        <a:buNone/>
                        <a:tabLst/>
                        <a:defRPr/>
                      </a:pPr>
                      <a:r>
                        <a:rPr sz="1050" b="0">
                          <a:solidFill>
                            <a:srgbClr val="1A1A1A"/>
                          </a:solidFill>
                          <a:latin typeface="맑은 고딕"/>
                        </a:rPr>
                        <a:t>1. 모바일에서는 일정과 지도 보기를 전환해 확인합니다.</a:t>
                      </a:r>
                      <a:endParaRPr lang="en-US" altLang="ko-KR" b="0" dirty="0" smtClean="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algn="l" latinLnBrk="1">
                        <a:spcAft>
                          <a:spcPts val="200"/>
                        </a:spcAft>
                      </a:pPr>
                      <a:r>
                        <a:rPr sz="1050" b="0">
                          <a:solidFill>
                            <a:srgbClr val="1A1A1A"/>
                          </a:solidFill>
                          <a:latin typeface="맑은 고딕"/>
                        </a:rPr>
                        <a:t>2. 장소를 주변 관광 후보로 교체할 수 있습니다.</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algn="l" latinLnBrk="1">
                        <a:spcAft>
                          <a:spcPts val="200"/>
                        </a:spcAft>
                      </a:pPr>
                      <a:r>
                        <a:rPr sz="1050" b="0">
                          <a:solidFill>
                            <a:srgbClr val="1A1A1A"/>
                          </a:solidFill>
                          <a:latin typeface="맑은 고딕"/>
                        </a:rPr>
                        <a:t>3. 저장된 코스는 링크와 카카오톡으로 공유합니다.</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wrap="square"/>
                    <a:lstStyle/>
                    <a:p>
                      <a:pPr algn="l" latinLnBrk="1">
                        <a:spcAft>
                          <a:spcPts val="400"/>
                        </a:spcAft>
                      </a:pPr>
                      <a:r>
                        <a:rPr sz="1000" b="0">
                          <a:solidFill>
                            <a:srgbClr val="1A1A1A"/>
                          </a:solidFill>
                          <a:latin typeface="맑은 고딕"/>
                        </a:rPr>
                        <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93083417"/>
                  </a:ext>
                </a:extLst>
              </a:tr>
            </a:tbl>
          </a:graphicData>
        </a:graphic>
      </p:graphicFrame>
      <p:graphicFrame>
        <p:nvGraphicFramePr>
          <p:cNvPr id="15" name="표 14"/>
          <p:cNvGraphicFramePr>
            <a:graphicFrameLocks noGrp="1"/>
          </p:cNvGraphicFramePr>
          <p:nvPr>
            <p:extLst>
              <p:ext uri="{D42A27DB-BD31-4B8C-83A1-F6EECF244321}">
                <p14:modId xmlns:p14="http://schemas.microsoft.com/office/powerpoint/2010/main" val="2744280268"/>
              </p:ext>
            </p:extLst>
          </p:nvPr>
        </p:nvGraphicFramePr>
        <p:xfrm>
          <a:off x="302952" y="1130530"/>
          <a:ext cx="11426308" cy="731520"/>
        </p:xfrm>
        <a:graphic>
          <a:graphicData uri="http://schemas.openxmlformats.org/drawingml/2006/table">
            <a:tbl>
              <a:tblPr firstRow="1" bandRow="1">
                <a:tableStyleId>{5C22544A-7EE6-4342-B048-85BDC9FD1C3A}</a:tableStyleId>
              </a:tblPr>
              <a:tblGrid>
                <a:gridCol w="1782764">
                  <a:extLst>
                    <a:ext uri="{9D8B030D-6E8A-4147-A177-3AD203B41FA5}">
                      <a16:colId xmlns:a16="http://schemas.microsoft.com/office/drawing/2014/main" val="837638667"/>
                    </a:ext>
                  </a:extLst>
                </a:gridCol>
                <a:gridCol w="9643544">
                  <a:extLst>
                    <a:ext uri="{9D8B030D-6E8A-4147-A177-3AD203B41FA5}">
                      <a16:colId xmlns:a16="http://schemas.microsoft.com/office/drawing/2014/main" val="2364043552"/>
                    </a:ext>
                  </a:extLst>
                </a:gridCol>
              </a:tblGrid>
              <a:tr h="236913">
                <a:tc>
                  <a:txBody>
                    <a:bodyPr wrap="square"/>
                    <a:lstStyle/>
                    <a:p>
                      <a:pPr algn="ctr" latinLnBrk="1">
                        <a:spcAft>
                          <a:spcPts val="400"/>
                        </a:spcAft>
                      </a:pPr>
                      <a:r>
                        <a:rPr sz="1200" b="1">
                          <a:solidFill>
                            <a:srgbClr val="1A1A1A"/>
                          </a:solidFill>
                          <a:latin typeface="맑은 고딕"/>
                        </a:rPr>
                        <a:t>핵심 기능5</a:t>
                      </a:r>
                      <a:endParaRPr lang="ko-KR" altLang="en-US" b="1" dirty="0">
                        <a:solidFill>
                          <a:schemeClr val="bg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wrap="square"/>
                    <a:lstStyle/>
                    <a:p>
                      <a:pPr latinLnBrk="1" algn="l">
                        <a:spcAft>
                          <a:spcPts val="400"/>
                        </a:spcAft>
                      </a:pPr>
                      <a:r>
                        <a:rPr sz="1200" b="1">
                          <a:solidFill>
                            <a:srgbClr val="1A1A1A"/>
                          </a:solidFill>
                          <a:latin typeface="맑은 고딕"/>
                        </a:rPr>
                        <a:t>반응형 결과 확인·장소 교체·저장·공유</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76143207"/>
                  </a:ext>
                </a:extLst>
              </a:tr>
              <a:tr h="236913">
                <a:tc>
                  <a:txBody>
                    <a:bodyPr/>
                    <a:lstStyle/>
                    <a:p>
                      <a:pPr algn="ctr" latinLnBrk="1"/>
                      <a:r>
                        <a:rPr lang="ko-KR" altLang="en-US" b="1" dirty="0" smtClean="0">
                          <a:solidFill>
                            <a:schemeClr val="bg1"/>
                          </a:solidFill>
                        </a:rPr>
                        <a:t>기능 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050" b="0">
                          <a:solidFill>
                            <a:srgbClr val="1A1A1A"/>
                          </a:solidFill>
                          <a:latin typeface="맑은 고딕"/>
                        </a:rPr>
                        <a:t>모바일에서는 일정과 지도 보기를 전환하고 넓은 화면에서는 나란히 배치합니다. 지도 로딩에 실패하면 외부 길찾기를 안내하며, 마음에 들지 않는 장소는 주변 관광 후보로 교체할 수 있습니다. 저장에 성공한 코스는 URL로 공유하고, 서버에 저장하지 못한 결과는 임시 결과임을 알려 사용할 수 없는 공유·편집 동작을 제공하지 않습니다.</a:t>
                      </a:r>
                      <a:endParaRPr lang="ko-KR" altLang="en-US" b="0" dirty="0" smtClean="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02682219"/>
                  </a:ext>
                </a:extLst>
              </a:tr>
            </a:tbl>
          </a:graphicData>
        </a:graphic>
      </p:graphicFrame>
      <p:pic>
        <p:nvPicPr>
          <p:cNvPr id="16" name="Picture 15" descr="mobile.png"/>
          <p:cNvPicPr>
            <a:picLocks noChangeAspect="1"/>
          </p:cNvPicPr>
          <p:nvPr/>
        </p:nvPicPr>
        <p:blipFill>
          <a:blip r:embed="rId2"/>
          <a:stretch>
            <a:fillRect/>
          </a:stretch>
        </p:blipFill>
        <p:spPr>
          <a:xfrm>
            <a:off x="1119626" y="2297047"/>
            <a:ext cx="1223227" cy="2733056"/>
          </a:xfrm>
          <a:prstGeom prst="rect">
            <a:avLst/>
          </a:prstGeom>
        </p:spPr>
      </p:pic>
      <p:pic>
        <p:nvPicPr>
          <p:cNvPr id="17" name="Picture 16" descr="swap.png"/>
          <p:cNvPicPr>
            <a:picLocks noChangeAspect="1"/>
          </p:cNvPicPr>
          <p:nvPr/>
        </p:nvPicPr>
        <p:blipFill>
          <a:blip r:embed="rId3"/>
          <a:stretch>
            <a:fillRect/>
          </a:stretch>
        </p:blipFill>
        <p:spPr>
          <a:xfrm>
            <a:off x="3959214" y="2297047"/>
            <a:ext cx="1257205" cy="2733056"/>
          </a:xfrm>
          <a:prstGeom prst="rect">
            <a:avLst/>
          </a:prstGeom>
        </p:spPr>
      </p:pic>
      <p:pic>
        <p:nvPicPr>
          <p:cNvPr id="18" name="Picture 17" descr="share.png"/>
          <p:cNvPicPr>
            <a:picLocks noChangeAspect="1"/>
          </p:cNvPicPr>
          <p:nvPr/>
        </p:nvPicPr>
        <p:blipFill>
          <a:blip r:embed="rId4"/>
          <a:stretch>
            <a:fillRect/>
          </a:stretch>
        </p:blipFill>
        <p:spPr>
          <a:xfrm>
            <a:off x="6052681" y="2297047"/>
            <a:ext cx="2783425" cy="1334787"/>
          </a:xfrm>
          <a:prstGeom prst="rect">
            <a:avLst/>
          </a:prstGeom>
        </p:spPr>
      </p:pic>
    </p:spTree>
    <p:extLst>
      <p:ext uri="{BB962C8B-B14F-4D97-AF65-F5344CB8AC3E}">
        <p14:creationId xmlns:p14="http://schemas.microsoft.com/office/powerpoint/2010/main" val="67194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4567" y="1101012"/>
            <a:ext cx="4770658" cy="307777"/>
          </a:xfrm>
          <a:prstGeom prst="rect">
            <a:avLst/>
          </a:prstGeom>
          <a:solidFill>
            <a:srgbClr val="FF6F00"/>
          </a:solidFill>
        </p:spPr>
        <p:txBody>
          <a:bodyPr wrap="square" rtlCol="0">
            <a:spAutoFit/>
          </a:bodyPr>
          <a:lstStyle/>
          <a:p>
            <a:pPr algn="ctr"/>
            <a:r>
              <a:rPr lang="ko-KR" altLang="en-US" sz="1400" b="1" dirty="0" smtClean="0">
                <a:solidFill>
                  <a:schemeClr val="bg1"/>
                </a:solidFill>
              </a:rPr>
              <a:t>서비스 개발에 활용한 한국관광공사 </a:t>
            </a:r>
            <a:r>
              <a:rPr lang="en-US" altLang="ko-KR" sz="1400" b="1" dirty="0" smtClean="0">
                <a:solidFill>
                  <a:schemeClr val="bg1"/>
                </a:solidFill>
              </a:rPr>
              <a:t>OpenAPI </a:t>
            </a:r>
            <a:r>
              <a:rPr lang="ko-KR" altLang="en-US" sz="1400" b="1" dirty="0" smtClean="0">
                <a:solidFill>
                  <a:schemeClr val="bg1"/>
                </a:solidFill>
              </a:rPr>
              <a:t>리스트</a:t>
            </a:r>
            <a:endParaRPr lang="ko-KR" altLang="en-US" sz="1400" b="1" dirty="0">
              <a:solidFill>
                <a:schemeClr val="bg1"/>
              </a:solidFill>
            </a:endParaRPr>
          </a:p>
        </p:txBody>
      </p:sp>
      <p:graphicFrame>
        <p:nvGraphicFramePr>
          <p:cNvPr id="7" name="표 6"/>
          <p:cNvGraphicFramePr>
            <a:graphicFrameLocks noGrp="1"/>
          </p:cNvGraphicFramePr>
          <p:nvPr>
            <p:extLst>
              <p:ext uri="{D42A27DB-BD31-4B8C-83A1-F6EECF244321}">
                <p14:modId xmlns:p14="http://schemas.microsoft.com/office/powerpoint/2010/main" val="1226638178"/>
              </p:ext>
            </p:extLst>
          </p:nvPr>
        </p:nvGraphicFramePr>
        <p:xfrm>
          <a:off x="174566" y="1646098"/>
          <a:ext cx="11628657" cy="3789680"/>
        </p:xfrm>
        <a:graphic>
          <a:graphicData uri="http://schemas.openxmlformats.org/drawingml/2006/table">
            <a:tbl>
              <a:tblPr firstRow="1" bandRow="1">
                <a:tableStyleId>{5C22544A-7EE6-4342-B048-85BDC9FD1C3A}</a:tableStyleId>
              </a:tblPr>
              <a:tblGrid>
                <a:gridCol w="821150">
                  <a:extLst>
                    <a:ext uri="{9D8B030D-6E8A-4147-A177-3AD203B41FA5}">
                      <a16:colId xmlns:a16="http://schemas.microsoft.com/office/drawing/2014/main" val="842166946"/>
                    </a:ext>
                  </a:extLst>
                </a:gridCol>
                <a:gridCol w="1816388">
                  <a:extLst>
                    <a:ext uri="{9D8B030D-6E8A-4147-A177-3AD203B41FA5}">
                      <a16:colId xmlns:a16="http://schemas.microsoft.com/office/drawing/2014/main" val="3903607114"/>
                    </a:ext>
                  </a:extLst>
                </a:gridCol>
                <a:gridCol w="8991119">
                  <a:extLst>
                    <a:ext uri="{9D8B030D-6E8A-4147-A177-3AD203B41FA5}">
                      <a16:colId xmlns:a16="http://schemas.microsoft.com/office/drawing/2014/main" val="2519424337"/>
                    </a:ext>
                  </a:extLst>
                </a:gridCol>
              </a:tblGrid>
              <a:tr h="370840">
                <a:tc rowSpan="2">
                  <a:txBody>
                    <a:bodyPr/>
                    <a:lstStyle/>
                    <a:p>
                      <a:pPr algn="ctr" latinLnBrk="1"/>
                      <a:r>
                        <a:rPr lang="en-US" altLang="ko-KR" sz="3200" b="1" dirty="0" smtClean="0">
                          <a:solidFill>
                            <a:schemeClr val="tx1"/>
                          </a:solidFill>
                        </a:rPr>
                        <a:t>1</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dirty="0" smtClean="0">
                          <a:solidFill>
                            <a:schemeClr val="bg1"/>
                          </a:solidFill>
                        </a:rPr>
                        <a:t>API</a:t>
                      </a:r>
                      <a:r>
                        <a:rPr lang="ko-KR" altLang="en-US" b="1" dirty="0" smtClean="0">
                          <a:solidFill>
                            <a:schemeClr val="bg1"/>
                          </a:solidFill>
                        </a:rPr>
                        <a:t>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100" b="0">
                          <a:solidFill>
                            <a:srgbClr val="1A1A1A"/>
                          </a:solidFill>
                          <a:latin typeface="맑은 고딕"/>
                        </a:rPr>
                        <a:t>한국관광공사 국문 관광정보 서비스 (KorService2) — 후보 수집·검색 / 오퍼레이션 3개</a:t>
                      </a: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77720883"/>
                  </a:ext>
                </a:extLst>
              </a:tr>
              <a:tr h="370840">
                <a:tc vMerge="1">
                  <a:txBody>
                    <a:bodyPr/>
                    <a:lstStyle/>
                    <a:p>
                      <a:pPr latinLnBrk="1"/>
                      <a:endParaRPr lang="ko-KR" altLang="en-US" dirty="0"/>
                    </a:p>
                  </a:txBody>
                  <a:tcPr/>
                </a:tc>
                <a:tc>
                  <a:txBody>
                    <a:bodyPr/>
                    <a:lstStyle/>
                    <a:p>
                      <a:pPr algn="ctr" latinLnBrk="1"/>
                      <a:r>
                        <a:rPr lang="ko-KR" altLang="en-US" b="1" dirty="0" smtClean="0">
                          <a:solidFill>
                            <a:schemeClr val="bg1"/>
                          </a:solidFill>
                        </a:rPr>
                        <a:t>상세설명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100" b="0">
                          <a:solidFill>
                            <a:srgbClr val="1A1A1A"/>
                          </a:solidFill>
                          <a:latin typeface="맑은 고딕"/>
                        </a:rPr>
                        <a:t>locationBasedList2 · areaBasedList2 · searchKeyword2 — 선택한 도시와 현재 위치 주변의 관광지·문화시설·음식점 후보를 수집하고 장소를 검색하는 데 활용합니다.</a:t>
                      </a: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7522436"/>
                  </a:ext>
                </a:extLst>
              </a:tr>
              <a:tr h="381000">
                <a:tc rowSpan="2">
                  <a:txBody>
                    <a:bodyPr/>
                    <a:lstStyle/>
                    <a:p>
                      <a:pPr algn="ctr" latinLnBrk="1"/>
                      <a:r>
                        <a:rPr lang="en-US" altLang="ko-KR" sz="3200" b="1" dirty="0" smtClean="0">
                          <a:solidFill>
                            <a:schemeClr val="tx1"/>
                          </a:solidFill>
                        </a:rPr>
                        <a:t>2</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dirty="0" smtClean="0">
                          <a:solidFill>
                            <a:schemeClr val="bg1"/>
                          </a:solidFill>
                        </a:rPr>
                        <a:t>API</a:t>
                      </a:r>
                      <a:r>
                        <a:rPr lang="ko-KR" altLang="en-US" b="1" dirty="0" smtClean="0">
                          <a:solidFill>
                            <a:schemeClr val="bg1"/>
                          </a:solidFill>
                        </a:rPr>
                        <a:t>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wrap="square"/>
                    <a:lstStyle/>
                    <a:p>
                      <a:pPr algn="l" latinLnBrk="1">
                        <a:spcAft>
                          <a:spcPts val="400"/>
                        </a:spcAft>
                      </a:pPr>
                      <a:r>
                        <a:rPr sz="1100" b="0">
                          <a:solidFill>
                            <a:srgbClr val="1A1A1A"/>
                          </a:solidFill>
                          <a:latin typeface="맑은 고딕"/>
                        </a:rPr>
                        <a:t>한국관광공사 국문 관광정보 서비스 (KorService2) — 장소 상세 정보 / 오퍼레이션 4개</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58026807"/>
                  </a:ext>
                </a:extLst>
              </a:tr>
              <a:tr h="381000">
                <a:tc vMerge="1">
                  <a:txBody>
                    <a:bodyPr/>
                    <a:lstStyle/>
                    <a:p>
                      <a:pPr latinLnBrk="1"/>
                      <a:endParaRPr lang="ko-KR" altLang="en-US"/>
                    </a:p>
                  </a:txBody>
                  <a:tcPr/>
                </a:tc>
                <a:tc>
                  <a:txBody>
                    <a:bodyPr/>
                    <a:lstStyle/>
                    <a:p>
                      <a:pPr algn="ctr" latinLnBrk="1"/>
                      <a:r>
                        <a:rPr lang="ko-KR" altLang="en-US" b="1" dirty="0" smtClean="0">
                          <a:solidFill>
                            <a:schemeClr val="bg1"/>
                          </a:solidFill>
                        </a:rPr>
                        <a:t>상세설명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wrap="square"/>
                    <a:lstStyle/>
                    <a:p>
                      <a:pPr algn="l" latinLnBrk="1">
                        <a:spcAft>
                          <a:spcPts val="400"/>
                        </a:spcAft>
                      </a:pPr>
                      <a:r>
                        <a:rPr sz="1100" b="0">
                          <a:solidFill>
                            <a:srgbClr val="1A1A1A"/>
                          </a:solidFill>
                          <a:latin typeface="맑은 고딕"/>
                        </a:rPr>
                        <a:t>detailCommon2 · detailIntro2 · detailImage2 · detailInfo2 — 좌표·소개·운영시간·정기 휴무·편의시설·사진 등 장소 상세 정보를 보강해 코스 검증과 결과 표시에 활용합니다.</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3851369"/>
                  </a:ext>
                </a:extLst>
              </a:tr>
              <a:tr h="381000">
                <a:tc rowSpan="2">
                  <a:txBody>
                    <a:bodyPr/>
                    <a:lstStyle/>
                    <a:p>
                      <a:pPr algn="ctr" latinLnBrk="1"/>
                      <a:r>
                        <a:rPr lang="en-US" altLang="ko-KR" sz="3200" b="1" dirty="0" smtClean="0">
                          <a:solidFill>
                            <a:schemeClr val="tx1"/>
                          </a:solidFill>
                        </a:rPr>
                        <a:t>3</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dirty="0" smtClean="0">
                          <a:solidFill>
                            <a:schemeClr val="bg1"/>
                          </a:solidFill>
                        </a:rPr>
                        <a:t>API</a:t>
                      </a:r>
                      <a:r>
                        <a:rPr lang="ko-KR" altLang="en-US" b="1" dirty="0" smtClean="0">
                          <a:solidFill>
                            <a:schemeClr val="bg1"/>
                          </a:solidFill>
                        </a:rPr>
                        <a:t>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wrap="square"/>
                    <a:lstStyle/>
                    <a:p>
                      <a:pPr algn="l" latinLnBrk="1">
                        <a:spcAft>
                          <a:spcPts val="400"/>
                        </a:spcAft>
                      </a:pPr>
                      <a:r>
                        <a:rPr sz="1100" b="0">
                          <a:solidFill>
                            <a:srgbClr val="1A1A1A"/>
                          </a:solidFill>
                          <a:latin typeface="맑은 고딕"/>
                        </a:rPr>
                        <a:t>한국관광공사 국문 관광정보 서비스 (KorService2) — 축제·숙박 / 오퍼레이션 2개</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87554315"/>
                  </a:ext>
                </a:extLst>
              </a:tr>
              <a:tr h="381000">
                <a:tc vMerge="1">
                  <a:txBody>
                    <a:bodyPr/>
                    <a:lstStyle/>
                    <a:p>
                      <a:pPr algn="ctr" latinLnBrk="1"/>
                      <a:endParaRPr lang="ko-KR" altLang="en-US" sz="3200"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1"/>
                    </a:solidFill>
                  </a:tcPr>
                </a:tc>
                <a:tc>
                  <a:txBody>
                    <a:bodyPr/>
                    <a:lstStyle/>
                    <a:p>
                      <a:pPr algn="ctr" latinLnBrk="1"/>
                      <a:r>
                        <a:rPr lang="ko-KR" altLang="en-US" b="1" dirty="0" smtClean="0">
                          <a:solidFill>
                            <a:schemeClr val="bg1"/>
                          </a:solidFill>
                        </a:rPr>
                        <a:t>상세설명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wrap="square"/>
                    <a:lstStyle/>
                    <a:p>
                      <a:pPr algn="l" latinLnBrk="1">
                        <a:spcAft>
                          <a:spcPts val="400"/>
                        </a:spcAft>
                      </a:pPr>
                      <a:r>
                        <a:rPr sz="1100" b="0">
                          <a:solidFill>
                            <a:srgbClr val="1A1A1A"/>
                          </a:solidFill>
                          <a:latin typeface="맑은 고딕"/>
                        </a:rPr>
                        <a:t>searchFestival2 · searchStay2 — 방문일 개최기간에 맞는 축제 후보와 1박 2일 코스의 숙박 후보를 조회합니다.</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90228473"/>
                  </a:ext>
                </a:extLst>
              </a:tr>
              <a:tr h="381000">
                <a:tc rowSpan="2">
                  <a:txBody>
                    <a:bodyPr/>
                    <a:lstStyle/>
                    <a:p>
                      <a:pPr algn="ctr" latinLnBrk="1"/>
                      <a:r>
                        <a:rPr lang="en-US" altLang="ko-KR" sz="3200" b="1" dirty="0" smtClean="0">
                          <a:solidFill>
                            <a:schemeClr val="tx1"/>
                          </a:solidFill>
                        </a:rPr>
                        <a:t>4</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dirty="0" smtClean="0">
                          <a:solidFill>
                            <a:schemeClr val="bg1"/>
                          </a:solidFill>
                        </a:rPr>
                        <a:t>API</a:t>
                      </a:r>
                      <a:r>
                        <a:rPr lang="ko-KR" altLang="en-US" b="1" dirty="0" smtClean="0">
                          <a:solidFill>
                            <a:schemeClr val="bg1"/>
                          </a:solidFill>
                        </a:rPr>
                        <a:t>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wrap="square"/>
                    <a:lstStyle/>
                    <a:p>
                      <a:pPr algn="l" latinLnBrk="1">
                        <a:spcAft>
                          <a:spcPts val="400"/>
                        </a:spcAft>
                      </a:pPr>
                      <a:r>
                        <a:rPr sz="1100" b="0">
                          <a:solidFill>
                            <a:srgbClr val="1A1A1A"/>
                          </a:solidFill>
                          <a:latin typeface="맑은 고딕"/>
                        </a:rPr>
                        <a:t>한국관광공사 국문 관광정보 서비스 (KorService2) — 코드 조회 / 오퍼레이션 2개</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529229970"/>
                  </a:ext>
                </a:extLst>
              </a:tr>
              <a:tr h="381000">
                <a:tc vMerge="1">
                  <a:txBody>
                    <a:bodyPr/>
                    <a:lstStyle/>
                    <a:p>
                      <a:pPr algn="ctr" latinLnBrk="1"/>
                      <a:endParaRPr lang="ko-KR" altLang="en-US" sz="3200"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1"/>
                    </a:solidFill>
                  </a:tcPr>
                </a:tc>
                <a:tc>
                  <a:txBody>
                    <a:bodyPr/>
                    <a:lstStyle/>
                    <a:p>
                      <a:pPr algn="ctr" latinLnBrk="1"/>
                      <a:r>
                        <a:rPr lang="ko-KR" altLang="en-US" b="1" dirty="0" smtClean="0">
                          <a:solidFill>
                            <a:schemeClr val="bg1"/>
                          </a:solidFill>
                        </a:rPr>
                        <a:t>상세설명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wrap="square"/>
                    <a:lstStyle/>
                    <a:p>
                      <a:pPr algn="l" latinLnBrk="1">
                        <a:spcAft>
                          <a:spcPts val="400"/>
                        </a:spcAft>
                      </a:pPr>
                      <a:r>
                        <a:rPr sz="1100" b="0">
                          <a:solidFill>
                            <a:srgbClr val="1A1A1A"/>
                          </a:solidFill>
                          <a:latin typeface="맑은 고딕"/>
                        </a:rPr>
                        <a:t>areaCode2 · categoryCode2 — 지역 코드와 분류 코드를 조회해 후보 수집 조건을 구성합니다.</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67204627"/>
                  </a:ext>
                </a:extLst>
              </a:tr>
              <a:tr h="381000">
                <a:tc rowSpan="2">
                  <a:txBody>
                    <a:bodyPr/>
                    <a:lstStyle/>
                    <a:p>
                      <a:pPr algn="ctr" latinLnBrk="1"/>
                      <a:r>
                        <a:rPr lang="en-US" altLang="ko-KR" sz="3200" b="1" dirty="0" smtClean="0">
                          <a:solidFill>
                            <a:schemeClr val="tx1"/>
                          </a:solidFill>
                        </a:rPr>
                        <a:t>5</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en-US" altLang="ko-KR" b="1" dirty="0" smtClean="0">
                          <a:solidFill>
                            <a:schemeClr val="bg1"/>
                          </a:solidFill>
                        </a:rPr>
                        <a:t>API</a:t>
                      </a:r>
                      <a:r>
                        <a:rPr lang="ko-KR" altLang="en-US" b="1" dirty="0" smtClean="0">
                          <a:solidFill>
                            <a:schemeClr val="bg1"/>
                          </a:solidFill>
                        </a:rPr>
                        <a:t>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wrap="square"/>
                    <a:lstStyle/>
                    <a:p>
                      <a:pPr algn="l" latinLnBrk="1">
                        <a:spcAft>
                          <a:spcPts val="400"/>
                        </a:spcAft>
                      </a:pPr>
                      <a:r>
                        <a:rPr sz="1100" b="0">
                          <a:solidFill>
                            <a:srgbClr val="1A1A1A"/>
                          </a:solidFill>
                          <a:latin typeface="맑은 고딕"/>
                        </a:rPr>
                        <a:t>한국관광공사 무장애 여행 정보 (KorWithService2, 상품ID 15101897) / 오퍼레이션 1개</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8013552"/>
                  </a:ext>
                </a:extLst>
              </a:tr>
              <a:tr h="381000">
                <a:tc vMerge="1">
                  <a:txBody>
                    <a:bodyPr/>
                    <a:lstStyle/>
                    <a:p>
                      <a:pPr algn="ctr" latinLnBrk="1"/>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ko-KR" altLang="en-US" b="1" dirty="0" smtClean="0">
                          <a:solidFill>
                            <a:schemeClr val="bg1"/>
                          </a:solidFill>
                        </a:rPr>
                        <a:t>상세설명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wrap="square"/>
                    <a:lstStyle/>
                    <a:p>
                      <a:pPr algn="l" latinLnBrk="1">
                        <a:spcAft>
                          <a:spcPts val="400"/>
                        </a:spcAft>
                      </a:pPr>
                      <a:r>
                        <a:rPr sz="1100" b="0">
                          <a:solidFill>
                            <a:srgbClr val="1A1A1A"/>
                          </a:solidFill>
                          <a:latin typeface="맑은 고딕"/>
                        </a:rPr>
                        <a:t>detailWithTour2 — 휠체어·보행, 시각, 청각, 영유아 동반에 관한 접근성 원문을 조회해 후보 우선순위와 결과 화면 표시에 활용합니다.</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93688541"/>
                  </a:ext>
                </a:extLst>
              </a:tr>
            </a:tbl>
          </a:graphicData>
        </a:graphic>
      </p:graphicFrame>
    </p:spTree>
    <p:extLst>
      <p:ext uri="{BB962C8B-B14F-4D97-AF65-F5344CB8AC3E}">
        <p14:creationId xmlns:p14="http://schemas.microsoft.com/office/powerpoint/2010/main" val="222294703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4567" y="1101012"/>
            <a:ext cx="3893580" cy="307777"/>
          </a:xfrm>
          <a:prstGeom prst="rect">
            <a:avLst/>
          </a:prstGeom>
          <a:solidFill>
            <a:srgbClr val="FF6F00"/>
          </a:solidFill>
        </p:spPr>
        <p:txBody>
          <a:bodyPr wrap="square" rtlCol="0">
            <a:spAutoFit/>
          </a:bodyPr>
          <a:lstStyle/>
          <a:p>
            <a:pPr algn="ctr"/>
            <a:r>
              <a:rPr lang="ko-KR" altLang="en-US" sz="1400" b="1" dirty="0" smtClean="0">
                <a:solidFill>
                  <a:schemeClr val="bg1"/>
                </a:solidFill>
              </a:rPr>
              <a:t>서비스 개발에 활용한 기타 </a:t>
            </a:r>
            <a:r>
              <a:rPr lang="en-US" altLang="ko-KR" sz="1400" b="1" dirty="0" smtClean="0">
                <a:solidFill>
                  <a:schemeClr val="bg1"/>
                </a:solidFill>
              </a:rPr>
              <a:t>API, </a:t>
            </a:r>
            <a:r>
              <a:rPr lang="ko-KR" altLang="en-US" sz="1400" b="1" dirty="0" err="1" smtClean="0">
                <a:solidFill>
                  <a:schemeClr val="bg1"/>
                </a:solidFill>
              </a:rPr>
              <a:t>파일데이터</a:t>
            </a:r>
            <a:endParaRPr lang="ko-KR" altLang="en-US" sz="1400" b="1" dirty="0">
              <a:solidFill>
                <a:schemeClr val="bg1"/>
              </a:solidFill>
            </a:endParaRPr>
          </a:p>
        </p:txBody>
      </p:sp>
      <p:graphicFrame>
        <p:nvGraphicFramePr>
          <p:cNvPr id="7" name="표 6"/>
          <p:cNvGraphicFramePr>
            <a:graphicFrameLocks noGrp="1"/>
          </p:cNvGraphicFramePr>
          <p:nvPr>
            <p:extLst>
              <p:ext uri="{D42A27DB-BD31-4B8C-83A1-F6EECF244321}">
                <p14:modId xmlns:p14="http://schemas.microsoft.com/office/powerpoint/2010/main" val="1310626099"/>
              </p:ext>
            </p:extLst>
          </p:nvPr>
        </p:nvGraphicFramePr>
        <p:xfrm>
          <a:off x="174566" y="1646098"/>
          <a:ext cx="11628657" cy="2265680"/>
        </p:xfrm>
        <a:graphic>
          <a:graphicData uri="http://schemas.openxmlformats.org/drawingml/2006/table">
            <a:tbl>
              <a:tblPr firstRow="1" bandRow="1">
                <a:tableStyleId>{5C22544A-7EE6-4342-B048-85BDC9FD1C3A}</a:tableStyleId>
              </a:tblPr>
              <a:tblGrid>
                <a:gridCol w="821150">
                  <a:extLst>
                    <a:ext uri="{9D8B030D-6E8A-4147-A177-3AD203B41FA5}">
                      <a16:colId xmlns:a16="http://schemas.microsoft.com/office/drawing/2014/main" val="842166946"/>
                    </a:ext>
                  </a:extLst>
                </a:gridCol>
                <a:gridCol w="1816388">
                  <a:extLst>
                    <a:ext uri="{9D8B030D-6E8A-4147-A177-3AD203B41FA5}">
                      <a16:colId xmlns:a16="http://schemas.microsoft.com/office/drawing/2014/main" val="3903607114"/>
                    </a:ext>
                  </a:extLst>
                </a:gridCol>
                <a:gridCol w="8991119">
                  <a:extLst>
                    <a:ext uri="{9D8B030D-6E8A-4147-A177-3AD203B41FA5}">
                      <a16:colId xmlns:a16="http://schemas.microsoft.com/office/drawing/2014/main" val="2519424337"/>
                    </a:ext>
                  </a:extLst>
                </a:gridCol>
              </a:tblGrid>
              <a:tr h="370840">
                <a:tc rowSpan="2">
                  <a:txBody>
                    <a:bodyPr/>
                    <a:lstStyle/>
                    <a:p>
                      <a:pPr algn="ctr" latinLnBrk="1"/>
                      <a:r>
                        <a:rPr lang="en-US" altLang="ko-KR" sz="3200" b="1" dirty="0" smtClean="0">
                          <a:solidFill>
                            <a:schemeClr val="tx1"/>
                          </a:solidFill>
                        </a:rPr>
                        <a:t>1</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ko-KR" altLang="en-US" b="1" dirty="0" err="1" smtClean="0">
                          <a:solidFill>
                            <a:schemeClr val="bg1"/>
                          </a:solidFill>
                        </a:rPr>
                        <a:t>데이터명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100" b="0">
                          <a:solidFill>
                            <a:srgbClr val="1A1A1A"/>
                          </a:solidFill>
                          <a:latin typeface="맑은 고딕"/>
                        </a:rPr>
                        <a:t>기상청 단기예보</a:t>
                      </a:r>
                      <a:endParaRPr lang="ko-KR" altLang="en-US" b="0" dirty="0" smtClean="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77720883"/>
                  </a:ext>
                </a:extLst>
              </a:tr>
              <a:tr h="370840">
                <a:tc vMerge="1">
                  <a:txBody>
                    <a:bodyPr/>
                    <a:lstStyle/>
                    <a:p>
                      <a:pPr latinLnBrk="1"/>
                      <a:endParaRPr lang="ko-KR" altLang="en-US" dirty="0"/>
                    </a:p>
                  </a:txBody>
                  <a:tcPr/>
                </a:tc>
                <a:tc>
                  <a:txBody>
                    <a:bodyPr/>
                    <a:lstStyle/>
                    <a:p>
                      <a:pPr algn="ctr" latinLnBrk="1"/>
                      <a:r>
                        <a:rPr lang="ko-KR" altLang="en-US" b="1" dirty="0" smtClean="0">
                          <a:solidFill>
                            <a:schemeClr val="bg1"/>
                          </a:solidFill>
                        </a:rPr>
                        <a:t>상세설명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100" b="0">
                          <a:solidFill>
                            <a:srgbClr val="1A1A1A"/>
                          </a:solidFill>
                          <a:latin typeface="맑은 고딕"/>
                        </a:rPr>
                        <a:t>예보 범위가 확인된 날짜에 한해 방문일 날씨를 코스 점수와 안내 문구에 반영하고, 범위가 부족한 날짜는 미확인으로 표시합니다.</a:t>
                      </a:r>
                      <a:endParaRPr lang="ko-KR" altLang="en-US" b="0" dirty="0" smtClean="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7522436"/>
                  </a:ext>
                </a:extLst>
              </a:tr>
              <a:tr h="381000">
                <a:tc rowSpan="2">
                  <a:txBody>
                    <a:bodyPr/>
                    <a:lstStyle/>
                    <a:p>
                      <a:pPr algn="ctr" latinLnBrk="1"/>
                      <a:r>
                        <a:rPr lang="en-US" altLang="ko-KR" sz="3200" b="1" dirty="0" smtClean="0">
                          <a:solidFill>
                            <a:schemeClr val="tx1"/>
                          </a:solidFill>
                        </a:rPr>
                        <a:t>2</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ko-KR" altLang="en-US" b="1" dirty="0" err="1" smtClean="0">
                          <a:solidFill>
                            <a:schemeClr val="bg1"/>
                          </a:solidFill>
                        </a:rPr>
                        <a:t>데이터명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wrap="square"/>
                    <a:lstStyle/>
                    <a:p>
                      <a:pPr algn="l" latinLnBrk="1">
                        <a:spcAft>
                          <a:spcPts val="400"/>
                        </a:spcAft>
                      </a:pPr>
                      <a:r>
                        <a:rPr sz="1100" b="0">
                          <a:solidFill>
                            <a:srgbClr val="1A1A1A"/>
                          </a:solidFill>
                          <a:latin typeface="맑은 고딕"/>
                        </a:rPr>
                        <a:t>Google Gemini</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58026807"/>
                  </a:ext>
                </a:extLst>
              </a:tr>
              <a:tr h="381000">
                <a:tc vMerge="1">
                  <a:txBody>
                    <a:bodyPr/>
                    <a:lstStyle/>
                    <a:p>
                      <a:pPr latinLnBrk="1"/>
                      <a:endParaRPr lang="ko-KR" altLang="en-US"/>
                    </a:p>
                  </a:txBody>
                  <a:tcPr/>
                </a:tc>
                <a:tc>
                  <a:txBody>
                    <a:bodyPr/>
                    <a:lstStyle/>
                    <a:p>
                      <a:pPr algn="ctr" latinLnBrk="1"/>
                      <a:r>
                        <a:rPr lang="ko-KR" altLang="en-US" b="1" dirty="0" smtClean="0">
                          <a:solidFill>
                            <a:schemeClr val="bg1"/>
                          </a:solidFill>
                        </a:rPr>
                        <a:t>상세설명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wrap="square"/>
                    <a:lstStyle/>
                    <a:p>
                      <a:pPr algn="l" latinLnBrk="1">
                        <a:spcAft>
                          <a:spcPts val="400"/>
                        </a:spcAft>
                      </a:pPr>
                      <a:r>
                        <a:rPr sz="1100" b="0">
                          <a:solidFill>
                            <a:srgbClr val="1A1A1A"/>
                          </a:solidFill>
                          <a:latin typeface="맑은 고딕"/>
                        </a:rPr>
                        <a:t>수집·점수화된 관광 후보를 바탕으로 장소 선택과 순서, 시간표, 설명 문구를 생성합니다. 실패 시 규칙 기반 코스로 대체합니다.</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33851369"/>
                  </a:ext>
                </a:extLst>
              </a:tr>
              <a:tr h="381000">
                <a:tc rowSpan="2">
                  <a:txBody>
                    <a:bodyPr/>
                    <a:lstStyle/>
                    <a:p>
                      <a:pPr algn="ctr" latinLnBrk="1"/>
                      <a:r>
                        <a:rPr lang="en-US" altLang="ko-KR" sz="3200" b="1" dirty="0" smtClean="0">
                          <a:solidFill>
                            <a:schemeClr val="tx1"/>
                          </a:solidFill>
                        </a:rPr>
                        <a:t>3</a:t>
                      </a:r>
                      <a:endParaRPr lang="ko-KR" altLang="en-US" sz="3200"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latinLnBrk="1"/>
                      <a:r>
                        <a:rPr lang="ko-KR" altLang="en-US" b="1" dirty="0" err="1" smtClean="0">
                          <a:solidFill>
                            <a:schemeClr val="bg1"/>
                          </a:solidFill>
                        </a:rPr>
                        <a:t>데이터명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wrap="square"/>
                    <a:lstStyle/>
                    <a:p>
                      <a:pPr algn="l" latinLnBrk="1">
                        <a:spcAft>
                          <a:spcPts val="400"/>
                        </a:spcAft>
                      </a:pPr>
                      <a:r>
                        <a:rPr sz="1100" b="0">
                          <a:solidFill>
                            <a:srgbClr val="1A1A1A"/>
                          </a:solidFill>
                          <a:latin typeface="맑은 고딕"/>
                        </a:rPr>
                        <a:t>Kakao 지도</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87554315"/>
                  </a:ext>
                </a:extLst>
              </a:tr>
              <a:tr h="381000">
                <a:tc vMerge="1">
                  <a:txBody>
                    <a:bodyPr/>
                    <a:lstStyle/>
                    <a:p>
                      <a:pPr algn="ctr" latinLnBrk="1"/>
                      <a:endParaRPr lang="ko-KR" altLang="en-US" sz="3200"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tx1"/>
                    </a:solidFill>
                  </a:tcPr>
                </a:tc>
                <a:tc>
                  <a:txBody>
                    <a:bodyPr/>
                    <a:lstStyle/>
                    <a:p>
                      <a:pPr algn="ctr" latinLnBrk="1"/>
                      <a:r>
                        <a:rPr lang="ko-KR" altLang="en-US" b="1" dirty="0" smtClean="0">
                          <a:solidFill>
                            <a:schemeClr val="bg1"/>
                          </a:solidFill>
                        </a:rPr>
                        <a:t>상세설명</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A401"/>
                    </a:solidFill>
                  </a:tcPr>
                </a:tc>
                <a:tc>
                  <a:txBody>
                    <a:bodyPr wrap="square"/>
                    <a:lstStyle/>
                    <a:p>
                      <a:pPr algn="l" latinLnBrk="1">
                        <a:spcAft>
                          <a:spcPts val="400"/>
                        </a:spcAft>
                      </a:pPr>
                      <a:r>
                        <a:rPr sz="1100" b="0">
                          <a:solidFill>
                            <a:srgbClr val="1A1A1A"/>
                          </a:solidFill>
                          <a:latin typeface="맑은 고딕"/>
                        </a:rPr>
                        <a:t>코스 경로와 장소 위치 표시, 길찾기 연결, 코스 공유에 활용합니다.</a:t>
                      </a:r>
                      <a:endParaRPr lang="ko-KR" altLang="en-US" b="0" dirty="0">
                        <a:solidFill>
                          <a:schemeClr val="tx1"/>
                        </a:solidFill>
                      </a:endParaRP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90228473"/>
                  </a:ext>
                </a:extLst>
              </a:tr>
            </a:tbl>
          </a:graphicData>
        </a:graphic>
      </p:graphicFrame>
    </p:spTree>
    <p:extLst>
      <p:ext uri="{BB962C8B-B14F-4D97-AF65-F5344CB8AC3E}">
        <p14:creationId xmlns:p14="http://schemas.microsoft.com/office/powerpoint/2010/main" val="317735648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p:cNvGraphicFramePr>
            <a:graphicFrameLocks noGrp="1"/>
          </p:cNvGraphicFramePr>
          <p:nvPr>
            <p:extLst>
              <p:ext uri="{D42A27DB-BD31-4B8C-83A1-F6EECF244321}">
                <p14:modId xmlns:p14="http://schemas.microsoft.com/office/powerpoint/2010/main" val="2048382877"/>
              </p:ext>
            </p:extLst>
          </p:nvPr>
        </p:nvGraphicFramePr>
        <p:xfrm>
          <a:off x="287250" y="1218429"/>
          <a:ext cx="11649825" cy="5074306"/>
        </p:xfrm>
        <a:graphic>
          <a:graphicData uri="http://schemas.openxmlformats.org/drawingml/2006/table">
            <a:tbl>
              <a:tblPr firstRow="1" bandRow="1">
                <a:tableStyleId>{5C22544A-7EE6-4342-B048-85BDC9FD1C3A}</a:tableStyleId>
              </a:tblPr>
              <a:tblGrid>
                <a:gridCol w="1955222">
                  <a:extLst>
                    <a:ext uri="{9D8B030D-6E8A-4147-A177-3AD203B41FA5}">
                      <a16:colId xmlns:a16="http://schemas.microsoft.com/office/drawing/2014/main" val="1299753452"/>
                    </a:ext>
                  </a:extLst>
                </a:gridCol>
                <a:gridCol w="9694603">
                  <a:extLst>
                    <a:ext uri="{9D8B030D-6E8A-4147-A177-3AD203B41FA5}">
                      <a16:colId xmlns:a16="http://schemas.microsoft.com/office/drawing/2014/main" val="3999346814"/>
                    </a:ext>
                  </a:extLst>
                </a:gridCol>
              </a:tblGrid>
              <a:tr h="2466075">
                <a:tc>
                  <a:txBody>
                    <a:bodyPr/>
                    <a:lstStyle/>
                    <a:p>
                      <a:pPr algn="ctr" latinLnBrk="1"/>
                      <a:r>
                        <a:rPr lang="ko-KR" altLang="en-US" b="1" dirty="0" smtClean="0">
                          <a:solidFill>
                            <a:schemeClr val="bg1"/>
                          </a:solidFill>
                        </a:rPr>
                        <a:t>차별성</a:t>
                      </a:r>
                      <a:endParaRPr lang="en-US" altLang="ko-KR" b="1" dirty="0" smtClean="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wrap="square"/>
                    <a:lstStyle/>
                    <a:p>
                      <a:pPr marL="0" lvl="0" indent="0" algn="l" rtl="0">
                        <a:spcBef>
                          <a:spcPts val="0"/>
                        </a:spcBef>
                        <a:spcAft>
                          <a:spcPts val="400"/>
                        </a:spcAft>
                        <a:buNone/>
                      </a:pPr>
                      <a:r>
                        <a:rPr sz="1200" b="0">
                          <a:solidFill>
                            <a:srgbClr val="1A1A1A"/>
                          </a:solidFill>
                          <a:latin typeface="맑은 고딕"/>
                        </a:rPr>
                        <a:t>공식 관광 데이터를 이용자의 조건에 맞춘 코스 초안으로 연결하고, 그 초안을 이용자가 직접 확인하고 편집할 수 있게 한 점이 차별점입니다. API 활용 개수 자체보다 데이터에서 실제 일정까지 이어지는 연결에 중점을 두었습니다.</a:t>
                      </a:r>
                      <a:endParaRPr lang="en-US" altLang="ko-KR" sz="1800" b="0" dirty="0" smtClean="0">
                        <a:solidFill>
                          <a:srgbClr val="FF0000"/>
                        </a:solidFill>
                        <a:latin typeface="+mn-lt"/>
                      </a:endParaRPr>
                    </a:p>
                    <a:p>
                      <a:pPr algn="l">
                        <a:spcAft>
                          <a:spcPts val="400"/>
                        </a:spcAft>
                      </a:pPr>
                      <a:r>
                        <a:rPr sz="1200" b="0">
                          <a:solidFill>
                            <a:srgbClr val="1A1A1A"/>
                          </a:solidFill>
                          <a:latin typeface="맑은 고딕"/>
                        </a:rPr>
                        <a:t/>
                      </a:r>
                    </a:p>
                    <a:p>
                      <a:pPr algn="l">
                        <a:spcAft>
                          <a:spcPts val="400"/>
                        </a:spcAft>
                      </a:pPr>
                      <a:r>
                        <a:rPr sz="1200" b="0">
                          <a:solidFill>
                            <a:srgbClr val="1A1A1A"/>
                          </a:solidFill>
                          <a:latin typeface="맑은 고딕"/>
                        </a:rPr>
                        <a:t>특히 방문일의 정기 휴무, 운영시간, 날씨 예보 범위, 접근성 정보처럼 확인되지 않은 항목을 감추지 않고 "확인 필요"로 드러냅니다. 데이터가 있는 것과 실제 이용이 가능한 것을 구분해 안내함으로써 추천의 신뢰도를 높이고, 이용자가 무엇을 스스로 확인해야 하는지 알 수 있게 했습니다.</a:t>
                      </a:r>
                    </a:p>
                    <a:p>
                      <a:pPr algn="l">
                        <a:spcAft>
                          <a:spcPts val="400"/>
                        </a:spcAft>
                      </a:pPr>
                      <a:r>
                        <a:rPr sz="1200" b="0">
                          <a:solidFill>
                            <a:srgbClr val="1A1A1A"/>
                          </a:solidFill>
                          <a:latin typeface="맑은 고딕"/>
                        </a:rPr>
                        <a:t/>
                      </a:r>
                    </a:p>
                    <a:p>
                      <a:pPr algn="l">
                        <a:spcAft>
                          <a:spcPts val="400"/>
                        </a:spcAft>
                      </a:pPr>
                      <a:r>
                        <a:rPr sz="1200" b="0">
                          <a:solidFill>
                            <a:srgbClr val="1A1A1A"/>
                          </a:solidFill>
                          <a:latin typeface="맑은 고딕"/>
                        </a:rPr>
                        <a:t>여행일 오행 테마는 핵심 기능을 대체하지 않는 선택 요소로, 같은 조건에서 비슷한 후보 사이의 순위에만 작게 반영해 재방문의 동기를 더합니다.</a:t>
                      </a: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3409156"/>
                  </a:ext>
                </a:extLst>
              </a:tr>
              <a:tr h="2608231">
                <a:tc>
                  <a:txBody>
                    <a:bodyPr/>
                    <a:lstStyle/>
                    <a:p>
                      <a:pPr algn="ctr" latinLnBrk="1"/>
                      <a:r>
                        <a:rPr lang="ko-KR" altLang="en-US" b="1" dirty="0" smtClean="0">
                          <a:solidFill>
                            <a:schemeClr val="bg1"/>
                          </a:solidFill>
                        </a:rPr>
                        <a:t>발전계획</a:t>
                      </a:r>
                      <a:endParaRPr lang="ko-KR" altLang="en-US" b="1" dirty="0">
                        <a:solidFill>
                          <a:schemeClr val="bg1"/>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6F00"/>
                    </a:solidFill>
                  </a:tcPr>
                </a:tc>
                <a:tc>
                  <a:txBody>
                    <a:bodyPr wrap="square"/>
                    <a:lstStyle/>
                    <a:p>
                      <a:pPr marL="0" marR="0" lvl="0" indent="0" algn="l" defTabSz="914400" rtl="0" eaLnBrk="1" fontAlgn="auto" latinLnBrk="1" hangingPunct="1">
                        <a:lnSpc>
                          <a:spcPct val="100000"/>
                        </a:lnSpc>
                        <a:spcBef>
                          <a:spcPts val="0"/>
                        </a:spcBef>
                        <a:spcAft>
                          <a:spcPts val="400"/>
                        </a:spcAft>
                        <a:buClrTx/>
                        <a:buSzTx/>
                        <a:buFontTx/>
                        <a:buNone/>
                        <a:tabLst/>
                        <a:defRPr/>
                      </a:pPr>
                      <a:r>
                        <a:rPr sz="1200" b="0">
                          <a:solidFill>
                            <a:srgbClr val="1A1A1A"/>
                          </a:solidFill>
                          <a:latin typeface="맑은 고딕"/>
                        </a:rPr>
                        <a:t>1. 호출 한도 상태를 확인해 AI 미시도 구간과 운영시간 미확인 표본을 보충하고, 지연·재시도 처리를 검증합니다.</a:t>
                      </a:r>
                    </a:p>
                    <a:p>
                      <a:pPr algn="l">
                        <a:spcAft>
                          <a:spcPts val="400"/>
                        </a:spcAft>
                      </a:pPr>
                      <a:r>
                        <a:rPr sz="1200" b="0">
                          <a:solidFill>
                            <a:srgbClr val="1A1A1A"/>
                          </a:solidFill>
                          <a:latin typeface="맑은 고딕"/>
                        </a:rPr>
                        <a:t>2. 실제 교통 경로와 이용자 테스트를 통해 이동 추정치와 일정 보완 규칙의 정확도를 개선합니다.</a:t>
                      </a:r>
                    </a:p>
                    <a:p>
                      <a:pPr algn="l">
                        <a:spcAft>
                          <a:spcPts val="400"/>
                        </a:spcAft>
                      </a:pPr>
                      <a:r>
                        <a:rPr sz="1200" b="0">
                          <a:solidFill>
                            <a:srgbClr val="1A1A1A"/>
                          </a:solidFill>
                          <a:latin typeface="맑은 고딕"/>
                        </a:rPr>
                        <a:t>3. 접근성 정보의 표시 범위를 넓히고, 원문이 없는 항목은 확인 경로(현장·전화)를 함께 안내합니다.</a:t>
                      </a:r>
                    </a:p>
                    <a:p>
                      <a:pPr algn="l">
                        <a:spcAft>
                          <a:spcPts val="400"/>
                        </a:spcAft>
                      </a:pPr>
                      <a:r>
                        <a:rPr sz="1200" b="0">
                          <a:solidFill>
                            <a:srgbClr val="1A1A1A"/>
                          </a:solidFill>
                          <a:latin typeface="맑은 고딕"/>
                        </a:rPr>
                        <a:t>4. 축제·공연의 회차와 예약 정보 확인 범위를 넓혀 방문 직전 변경에 대응합니다.</a:t>
                      </a:r>
                    </a:p>
                  </a:txBody>
                  <a:tcPr anchor="t">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7412154"/>
                  </a:ext>
                </a:extLst>
              </a:tr>
            </a:tbl>
          </a:graphicData>
        </a:graphic>
      </p:graphicFrame>
    </p:spTree>
    <p:extLst>
      <p:ext uri="{BB962C8B-B14F-4D97-AF65-F5344CB8AC3E}">
        <p14:creationId xmlns:p14="http://schemas.microsoft.com/office/powerpoint/2010/main" val="398856896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408</TotalTime>
  <Words>549</Words>
  <Application>Microsoft Office PowerPoint</Application>
  <PresentationFormat>와이드스크린</PresentationFormat>
  <Paragraphs>95</Paragraphs>
  <Slides>9</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9</vt:i4>
      </vt:variant>
    </vt:vector>
  </HeadingPairs>
  <TitlesOfParts>
    <vt:vector size="13" baseType="lpstr">
      <vt:lpstr>Noto Sans KR Medium</vt:lpstr>
      <vt:lpstr>맑은 고딕</vt:lpstr>
      <vt:lpstr>Arial</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KTO</dc:creator>
  <cp:lastModifiedBy>USER</cp:lastModifiedBy>
  <cp:revision>64</cp:revision>
  <dcterms:created xsi:type="dcterms:W3CDTF">2026-07-07T05:25:59Z</dcterms:created>
  <dcterms:modified xsi:type="dcterms:W3CDTF">2026-07-29T05:45:18Z</dcterms:modified>
</cp:coreProperties>
</file>